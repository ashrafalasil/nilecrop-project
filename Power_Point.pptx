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68" r:id="rId3"/>
    <p:sldId id="269" r:id="rId4"/>
    <p:sldId id="258" r:id="rId5"/>
    <p:sldId id="270" r:id="rId6"/>
    <p:sldId id="260" r:id="rId7"/>
    <p:sldId id="261" r:id="rId8"/>
    <p:sldId id="262" r:id="rId9"/>
    <p:sldId id="263" r:id="rId10"/>
    <p:sldId id="264" r:id="rId11"/>
    <p:sldId id="271" r:id="rId12"/>
    <p:sldId id="266" r:id="rId13"/>
    <p:sldId id="267" r:id="rId14"/>
    <p:sldId id="272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A000"/>
    <a:srgbClr val="FFD653"/>
    <a:srgbClr val="FFE9A3"/>
    <a:srgbClr val="208C4E"/>
    <a:srgbClr val="2ECC71"/>
    <a:srgbClr val="0A5648"/>
    <a:srgbClr val="14A88C"/>
    <a:srgbClr val="0D2B1E"/>
    <a:srgbClr val="E6E6E6"/>
    <a:srgbClr val="369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6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99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8B508D-B539-4670-9264-A20D56B4F07F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8748D6-75CF-47D6-BC14-044C2449D7F2}">
      <dgm:prSet phldrT="[Text]" phldr="0" custT="1"/>
      <dgm:spPr>
        <a:solidFill>
          <a:srgbClr val="789F69"/>
        </a:solidFill>
        <a:ln>
          <a:solidFill>
            <a:srgbClr val="789F69"/>
          </a:solidFill>
        </a:ln>
      </dgm:spPr>
      <dgm:t>
        <a:bodyPr/>
        <a:lstStyle/>
        <a:p>
          <a:r>
            <a:rPr lang="en-US" sz="1200" dirty="0">
              <a:latin typeface="Algerian" panose="04020705040A02060702" pitchFamily="82" charset="0"/>
            </a:rPr>
            <a:t>WEATHER</a:t>
          </a:r>
        </a:p>
        <a:p>
          <a:endParaRPr lang="en-US" sz="1000" dirty="0"/>
        </a:p>
      </dgm:t>
    </dgm:pt>
    <dgm:pt modelId="{288B0287-E18F-4E70-8592-2590E50B9C2F}" type="parTrans" cxnId="{9A532C80-9EFF-4EB4-AD6D-FB0E78AB0DC7}">
      <dgm:prSet/>
      <dgm:spPr/>
      <dgm:t>
        <a:bodyPr/>
        <a:lstStyle/>
        <a:p>
          <a:endParaRPr lang="en-US"/>
        </a:p>
      </dgm:t>
    </dgm:pt>
    <dgm:pt modelId="{41DFA48D-85B9-492B-BC5E-0E3BF8399F6C}" type="sibTrans" cxnId="{9A532C80-9EFF-4EB4-AD6D-FB0E78AB0DC7}">
      <dgm:prSet/>
      <dgm:spPr/>
      <dgm:t>
        <a:bodyPr/>
        <a:lstStyle/>
        <a:p>
          <a:endParaRPr lang="en-US"/>
        </a:p>
      </dgm:t>
    </dgm:pt>
    <dgm:pt modelId="{2F3EC502-DE2E-4467-9718-D3767729F044}">
      <dgm:prSet phldrT="[Text]" phldr="0" custT="1"/>
      <dgm:spPr/>
      <dgm:t>
        <a:bodyPr/>
        <a:lstStyle/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Temperature, Humidity, Rainfall</a:t>
          </a:r>
        </a:p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Free — No API key required</a:t>
          </a:r>
        </a:p>
        <a:p>
          <a:endParaRPr lang="en-US" sz="900" dirty="0"/>
        </a:p>
      </dgm:t>
    </dgm:pt>
    <dgm:pt modelId="{6A6AD559-3B50-47FD-8391-BBBBDD8CDDA1}" type="parTrans" cxnId="{686F32F6-9C98-46FE-B125-B3642C107423}">
      <dgm:prSet/>
      <dgm:spPr/>
      <dgm:t>
        <a:bodyPr/>
        <a:lstStyle/>
        <a:p>
          <a:endParaRPr lang="en-US"/>
        </a:p>
      </dgm:t>
    </dgm:pt>
    <dgm:pt modelId="{E2CD02F9-D34A-4D05-98CC-F6DBE600D619}" type="sibTrans" cxnId="{686F32F6-9C98-46FE-B125-B3642C107423}">
      <dgm:prSet/>
      <dgm:spPr/>
      <dgm:t>
        <a:bodyPr/>
        <a:lstStyle/>
        <a:p>
          <a:endParaRPr lang="en-US"/>
        </a:p>
      </dgm:t>
    </dgm:pt>
    <dgm:pt modelId="{5C07ED7D-1515-49B2-A4FF-0CC66A899FB4}">
      <dgm:prSet phldrT="[Text]" phldr="0" custT="1"/>
      <dgm:spPr>
        <a:solidFill>
          <a:srgbClr val="789F69"/>
        </a:solidFill>
        <a:ln>
          <a:solidFill>
            <a:srgbClr val="789F69"/>
          </a:solidFill>
        </a:ln>
      </dgm:spPr>
      <dgm:t>
        <a:bodyPr/>
        <a:lstStyle/>
        <a:p>
          <a:r>
            <a:rPr lang="en-US" sz="1200" dirty="0">
              <a:latin typeface="Algerian" panose="04020705040A02060702" pitchFamily="82" charset="0"/>
            </a:rPr>
            <a:t>SOIL</a:t>
          </a:r>
        </a:p>
        <a:p>
          <a:endParaRPr lang="en-US" sz="1100" dirty="0"/>
        </a:p>
      </dgm:t>
    </dgm:pt>
    <dgm:pt modelId="{F263D401-E7AF-4573-B4BE-C5E2F2CCC764}" type="parTrans" cxnId="{3CEC6258-78D8-42C1-AD51-92BAA0CFD14C}">
      <dgm:prSet/>
      <dgm:spPr/>
      <dgm:t>
        <a:bodyPr/>
        <a:lstStyle/>
        <a:p>
          <a:endParaRPr lang="en-US"/>
        </a:p>
      </dgm:t>
    </dgm:pt>
    <dgm:pt modelId="{1C48F701-04A3-4155-95A7-6BD91DEEA007}" type="sibTrans" cxnId="{3CEC6258-78D8-42C1-AD51-92BAA0CFD14C}">
      <dgm:prSet/>
      <dgm:spPr/>
      <dgm:t>
        <a:bodyPr/>
        <a:lstStyle/>
        <a:p>
          <a:endParaRPr lang="en-US"/>
        </a:p>
      </dgm:t>
    </dgm:pt>
    <dgm:pt modelId="{6641B54D-EF4F-41F2-84BD-01664E93E43F}">
      <dgm:prSet phldrT="[Text]" phldr="0" custT="1"/>
      <dgm:spPr/>
      <dgm:t>
        <a:bodyPr/>
        <a:lstStyle/>
        <a:p>
          <a:r>
            <a: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Soil Grids (FAO)</a:t>
          </a:r>
        </a:p>
        <a:p>
          <a:endParaRPr lang="en-US" sz="1200" dirty="0"/>
        </a:p>
      </dgm:t>
    </dgm:pt>
    <dgm:pt modelId="{1B4B2A39-C818-4D03-AF58-6FB853A4D115}" type="parTrans" cxnId="{620204E8-29FB-4FE9-B8E9-CEC706B9E6A1}">
      <dgm:prSet/>
      <dgm:spPr/>
      <dgm:t>
        <a:bodyPr/>
        <a:lstStyle/>
        <a:p>
          <a:endParaRPr lang="en-US"/>
        </a:p>
      </dgm:t>
    </dgm:pt>
    <dgm:pt modelId="{A966F561-0874-4573-BEEB-3BAA69301019}" type="sibTrans" cxnId="{620204E8-29FB-4FE9-B8E9-CEC706B9E6A1}">
      <dgm:prSet/>
      <dgm:spPr/>
      <dgm:t>
        <a:bodyPr/>
        <a:lstStyle/>
        <a:p>
          <a:endParaRPr lang="en-US"/>
        </a:p>
      </dgm:t>
    </dgm:pt>
    <dgm:pt modelId="{12959640-55E4-4154-9AC0-323BFE5B56EF}">
      <dgm:prSet phldrT="[Text]" phldr="0" custT="1"/>
      <dgm:spPr/>
      <dgm:t>
        <a:bodyPr/>
        <a:lstStyle/>
        <a:p>
          <a:r>
            <a:rPr lang="en-US" sz="900" dirty="0"/>
            <a:t> </a:t>
          </a:r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pH, Nitrogen, Phosphorus,</a:t>
          </a:r>
        </a:p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 Potassium — Global Coverage</a:t>
          </a:r>
        </a:p>
        <a:p>
          <a:endParaRPr lang="en-US" sz="900" dirty="0"/>
        </a:p>
      </dgm:t>
    </dgm:pt>
    <dgm:pt modelId="{1DD7E38C-9FF4-4A72-B7AE-23E6DC770EE2}" type="parTrans" cxnId="{CAB049A5-5F9F-4827-926E-F919B4DF49B3}">
      <dgm:prSet/>
      <dgm:spPr/>
      <dgm:t>
        <a:bodyPr/>
        <a:lstStyle/>
        <a:p>
          <a:endParaRPr lang="en-US"/>
        </a:p>
      </dgm:t>
    </dgm:pt>
    <dgm:pt modelId="{17FBF3A1-7782-45C9-AC39-5A8D6BB7C10A}" type="sibTrans" cxnId="{CAB049A5-5F9F-4827-926E-F919B4DF49B3}">
      <dgm:prSet/>
      <dgm:spPr/>
      <dgm:t>
        <a:bodyPr/>
        <a:lstStyle/>
        <a:p>
          <a:endParaRPr lang="en-US"/>
        </a:p>
      </dgm:t>
    </dgm:pt>
    <dgm:pt modelId="{16A09BCF-3B41-4AC1-A7C1-94CBE14BA170}">
      <dgm:prSet phldrT="[Text]" phldr="0" custT="1"/>
      <dgm:spPr>
        <a:solidFill>
          <a:srgbClr val="789F69"/>
        </a:solidFill>
      </dgm:spPr>
      <dgm:t>
        <a:bodyPr/>
        <a:lstStyle/>
        <a:p>
          <a:r>
            <a:rPr lang="en-US" sz="1200" dirty="0">
              <a:latin typeface="Algerian" panose="04020705040A02060702" pitchFamily="82" charset="0"/>
            </a:rPr>
            <a:t>CLIMATE</a:t>
          </a:r>
        </a:p>
        <a:p>
          <a:endParaRPr lang="en-US" sz="1100" dirty="0"/>
        </a:p>
      </dgm:t>
    </dgm:pt>
    <dgm:pt modelId="{5F06924E-D5E4-4389-A97D-A2DA8F764404}" type="parTrans" cxnId="{201DB5CE-CFCB-4748-ADFE-AF55C7F30D9E}">
      <dgm:prSet/>
      <dgm:spPr/>
      <dgm:t>
        <a:bodyPr/>
        <a:lstStyle/>
        <a:p>
          <a:endParaRPr lang="en-US"/>
        </a:p>
      </dgm:t>
    </dgm:pt>
    <dgm:pt modelId="{B3C8829C-CA30-4FA5-AD73-28FE78D0CC3D}" type="sibTrans" cxnId="{201DB5CE-CFCB-4748-ADFE-AF55C7F30D9E}">
      <dgm:prSet/>
      <dgm:spPr/>
      <dgm:t>
        <a:bodyPr/>
        <a:lstStyle/>
        <a:p>
          <a:endParaRPr lang="en-US"/>
        </a:p>
      </dgm:t>
    </dgm:pt>
    <dgm:pt modelId="{19EFB88A-6F97-4264-B399-882D67954384}">
      <dgm:prSet phldrT="[Text]" phldr="0" custT="1"/>
      <dgm:spPr/>
      <dgm:t>
        <a:bodyPr/>
        <a:lstStyle/>
        <a:p>
          <a:r>
            <a: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NASA POWER API</a:t>
          </a:r>
        </a:p>
        <a:p>
          <a:endParaRPr lang="en-US" sz="1200" dirty="0"/>
        </a:p>
      </dgm:t>
    </dgm:pt>
    <dgm:pt modelId="{21BC8993-E933-49F3-9336-1AA383E44D25}" type="parTrans" cxnId="{B83E8AA8-982C-4723-A8A6-244E5194E28E}">
      <dgm:prSet/>
      <dgm:spPr/>
      <dgm:t>
        <a:bodyPr/>
        <a:lstStyle/>
        <a:p>
          <a:endParaRPr lang="en-US"/>
        </a:p>
      </dgm:t>
    </dgm:pt>
    <dgm:pt modelId="{8DEC184C-8C68-49FA-A820-8CB7085C6831}" type="sibTrans" cxnId="{B83E8AA8-982C-4723-A8A6-244E5194E28E}">
      <dgm:prSet/>
      <dgm:spPr/>
      <dgm:t>
        <a:bodyPr/>
        <a:lstStyle/>
        <a:p>
          <a:endParaRPr lang="en-US"/>
        </a:p>
      </dgm:t>
    </dgm:pt>
    <dgm:pt modelId="{4CB7B63B-5146-4507-B137-4F5249BECF42}">
      <dgm:prSet phldrT="[Text]" phldr="0" custT="1"/>
      <dgm:spPr/>
      <dgm:t>
        <a:bodyPr/>
        <a:lstStyle/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Historical Climate Data</a:t>
          </a:r>
        </a:p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Free — No key required</a:t>
          </a:r>
        </a:p>
        <a:p>
          <a:endParaRPr lang="en-US" sz="900" dirty="0"/>
        </a:p>
      </dgm:t>
    </dgm:pt>
    <dgm:pt modelId="{8025FAF6-FDD0-4BE5-A13B-0383D8F7627C}" type="parTrans" cxnId="{A31D74B0-C3BE-4386-865B-2A90511081EA}">
      <dgm:prSet/>
      <dgm:spPr/>
      <dgm:t>
        <a:bodyPr/>
        <a:lstStyle/>
        <a:p>
          <a:endParaRPr lang="en-US"/>
        </a:p>
      </dgm:t>
    </dgm:pt>
    <dgm:pt modelId="{19A2B2C4-2489-4DB7-A7DA-837BB6EDB555}" type="sibTrans" cxnId="{A31D74B0-C3BE-4386-865B-2A90511081EA}">
      <dgm:prSet/>
      <dgm:spPr/>
      <dgm:t>
        <a:bodyPr/>
        <a:lstStyle/>
        <a:p>
          <a:endParaRPr lang="en-US"/>
        </a:p>
      </dgm:t>
    </dgm:pt>
    <dgm:pt modelId="{FA525174-0E49-4EAA-9F5D-E231AD53602E}">
      <dgm:prSet phldrT="[Text]" phldr="0" custT="1"/>
      <dgm:spPr/>
      <dgm:t>
        <a:bodyPr/>
        <a:lstStyle/>
        <a:p>
          <a:r>
            <a: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Open – Meto API</a:t>
          </a:r>
        </a:p>
        <a:p>
          <a:endParaRPr lang="en-US" sz="1600" dirty="0">
            <a:solidFill>
              <a:schemeClr val="accent4">
                <a:lumMod val="20000"/>
                <a:lumOff val="80000"/>
              </a:schemeClr>
            </a:solidFill>
            <a:latin typeface="Impact" panose="020B0806030902050204" pitchFamily="34" charset="0"/>
          </a:endParaRPr>
        </a:p>
      </dgm:t>
    </dgm:pt>
    <dgm:pt modelId="{FA23EA7B-04D1-48C0-B6F4-94F37CDF9FAF}" type="sibTrans" cxnId="{00061C8A-3ED8-45D7-A860-AC0416C2F222}">
      <dgm:prSet/>
      <dgm:spPr/>
      <dgm:t>
        <a:bodyPr/>
        <a:lstStyle/>
        <a:p>
          <a:endParaRPr lang="en-US"/>
        </a:p>
      </dgm:t>
    </dgm:pt>
    <dgm:pt modelId="{25ECF94D-CAF8-4AFC-8DD9-56B4CA2F367E}" type="parTrans" cxnId="{00061C8A-3ED8-45D7-A860-AC0416C2F222}">
      <dgm:prSet/>
      <dgm:spPr/>
      <dgm:t>
        <a:bodyPr/>
        <a:lstStyle/>
        <a:p>
          <a:endParaRPr lang="en-US"/>
        </a:p>
      </dgm:t>
    </dgm:pt>
    <dgm:pt modelId="{FBB2335A-FCFF-444A-BF41-3C89EB3F5ED8}" type="pres">
      <dgm:prSet presAssocID="{458B508D-B539-4670-9264-A20D56B4F07F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92C7C862-15E5-43D6-89E1-2FEDA59E5FEB}" type="pres">
      <dgm:prSet presAssocID="{ED8748D6-75CF-47D6-BC14-044C2449D7F2}" presName="composite" presStyleCnt="0"/>
      <dgm:spPr/>
    </dgm:pt>
    <dgm:pt modelId="{42AE5C2E-EC10-44F9-90C4-46A6F6D79DCD}" type="pres">
      <dgm:prSet presAssocID="{ED8748D6-75CF-47D6-BC14-044C2449D7F2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900F3C29-A229-4DE6-8E24-0B76F9125E77}" type="pres">
      <dgm:prSet presAssocID="{ED8748D6-75CF-47D6-BC14-044C2449D7F2}" presName="Parent" presStyleLbl="alignNode1" presStyleIdx="0" presStyleCnt="3" custLinFactNeighborY="2711">
        <dgm:presLayoutVars>
          <dgm:chMax val="3"/>
          <dgm:chPref val="3"/>
          <dgm:bulletEnabled val="1"/>
        </dgm:presLayoutVars>
      </dgm:prSet>
      <dgm:spPr/>
    </dgm:pt>
    <dgm:pt modelId="{AF827E24-CE62-4340-9B74-F007C6AEEAE9}" type="pres">
      <dgm:prSet presAssocID="{ED8748D6-75CF-47D6-BC14-044C2449D7F2}" presName="Accent" presStyleLbl="parChTrans1D1" presStyleIdx="0" presStyleCnt="3" custLinFactNeighborX="-125" custLinFactNeighborY="38736"/>
      <dgm:spPr>
        <a:ln>
          <a:solidFill>
            <a:srgbClr val="789F69"/>
          </a:solidFill>
        </a:ln>
      </dgm:spPr>
    </dgm:pt>
    <dgm:pt modelId="{74CEE834-C587-43C2-8AEE-38CFAE7B8E22}" type="pres">
      <dgm:prSet presAssocID="{ED8748D6-75CF-47D6-BC14-044C2449D7F2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C33FF2D4-C211-45E3-9B18-827C25E63A6C}" type="pres">
      <dgm:prSet presAssocID="{41DFA48D-85B9-492B-BC5E-0E3BF8399F6C}" presName="sibTrans" presStyleCnt="0"/>
      <dgm:spPr/>
    </dgm:pt>
    <dgm:pt modelId="{81E1910F-A603-445E-B3F9-1C8A0DF0A7F8}" type="pres">
      <dgm:prSet presAssocID="{5C07ED7D-1515-49B2-A4FF-0CC66A899FB4}" presName="composite" presStyleCnt="0"/>
      <dgm:spPr/>
    </dgm:pt>
    <dgm:pt modelId="{07C8EECD-0AF6-49D0-AC01-2BAF1B9C2AAB}" type="pres">
      <dgm:prSet presAssocID="{5C07ED7D-1515-49B2-A4FF-0CC66A899FB4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C2966D70-0646-4452-9146-992CD402A299}" type="pres">
      <dgm:prSet presAssocID="{5C07ED7D-1515-49B2-A4FF-0CC66A899FB4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75B517BA-A9BF-48C1-B945-89D1CD86CC1A}" type="pres">
      <dgm:prSet presAssocID="{5C07ED7D-1515-49B2-A4FF-0CC66A899FB4}" presName="Accent" presStyleLbl="parChTrans1D1" presStyleIdx="1" presStyleCnt="3"/>
      <dgm:spPr>
        <a:ln>
          <a:solidFill>
            <a:srgbClr val="789F69"/>
          </a:solidFill>
        </a:ln>
      </dgm:spPr>
    </dgm:pt>
    <dgm:pt modelId="{CD29D447-7A5E-40FC-B275-03F78226C3F8}" type="pres">
      <dgm:prSet presAssocID="{5C07ED7D-1515-49B2-A4FF-0CC66A899FB4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3673D681-3F5F-4882-8E1B-DE3532321D58}" type="pres">
      <dgm:prSet presAssocID="{1C48F701-04A3-4155-95A7-6BD91DEEA007}" presName="sibTrans" presStyleCnt="0"/>
      <dgm:spPr/>
    </dgm:pt>
    <dgm:pt modelId="{BEFA7F29-A870-48E8-B23E-F3065F1C68A9}" type="pres">
      <dgm:prSet presAssocID="{16A09BCF-3B41-4AC1-A7C1-94CBE14BA170}" presName="composite" presStyleCnt="0"/>
      <dgm:spPr/>
    </dgm:pt>
    <dgm:pt modelId="{E9712A4A-6246-4DFC-A872-E1E92184070E}" type="pres">
      <dgm:prSet presAssocID="{16A09BCF-3B41-4AC1-A7C1-94CBE14BA170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769E45B7-8CCE-4CD6-86C2-7F76959B60BB}" type="pres">
      <dgm:prSet presAssocID="{16A09BCF-3B41-4AC1-A7C1-94CBE14BA170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ADD3E777-9526-4166-A858-DF0CE25FA1A9}" type="pres">
      <dgm:prSet presAssocID="{16A09BCF-3B41-4AC1-A7C1-94CBE14BA170}" presName="Accent" presStyleLbl="parChTrans1D1" presStyleIdx="2" presStyleCnt="3" custLinFactNeighborX="391"/>
      <dgm:spPr>
        <a:ln>
          <a:solidFill>
            <a:srgbClr val="789F69"/>
          </a:solidFill>
        </a:ln>
      </dgm:spPr>
    </dgm:pt>
    <dgm:pt modelId="{1036CC8E-A650-45B0-978D-1A43884F28E8}" type="pres">
      <dgm:prSet presAssocID="{16A09BCF-3B41-4AC1-A7C1-94CBE14BA170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F6BA328-2D2C-4998-8032-14D866B6FA4E}" type="presOf" srcId="{FA525174-0E49-4EAA-9F5D-E231AD53602E}" destId="{42AE5C2E-EC10-44F9-90C4-46A6F6D79DCD}" srcOrd="0" destOrd="0" presId="urn:microsoft.com/office/officeart/2011/layout/TabList"/>
    <dgm:cxn modelId="{D6F29D2B-6D8C-4EA8-831C-4CCBF3645BBB}" type="presOf" srcId="{12959640-55E4-4154-9AC0-323BFE5B56EF}" destId="{CD29D447-7A5E-40FC-B275-03F78226C3F8}" srcOrd="0" destOrd="0" presId="urn:microsoft.com/office/officeart/2011/layout/TabList"/>
    <dgm:cxn modelId="{705FE34E-8722-4A6D-9107-E7FA9BF0933C}" type="presOf" srcId="{5C07ED7D-1515-49B2-A4FF-0CC66A899FB4}" destId="{C2966D70-0646-4452-9146-992CD402A299}" srcOrd="0" destOrd="0" presId="urn:microsoft.com/office/officeart/2011/layout/TabList"/>
    <dgm:cxn modelId="{3CEC6258-78D8-42C1-AD51-92BAA0CFD14C}" srcId="{458B508D-B539-4670-9264-A20D56B4F07F}" destId="{5C07ED7D-1515-49B2-A4FF-0CC66A899FB4}" srcOrd="1" destOrd="0" parTransId="{F263D401-E7AF-4573-B4BE-C5E2F2CCC764}" sibTransId="{1C48F701-04A3-4155-95A7-6BD91DEEA007}"/>
    <dgm:cxn modelId="{9A532C80-9EFF-4EB4-AD6D-FB0E78AB0DC7}" srcId="{458B508D-B539-4670-9264-A20D56B4F07F}" destId="{ED8748D6-75CF-47D6-BC14-044C2449D7F2}" srcOrd="0" destOrd="0" parTransId="{288B0287-E18F-4E70-8592-2590E50B9C2F}" sibTransId="{41DFA48D-85B9-492B-BC5E-0E3BF8399F6C}"/>
    <dgm:cxn modelId="{E08CD188-40C3-4865-B08E-1CE2398F5F20}" type="presOf" srcId="{2F3EC502-DE2E-4467-9718-D3767729F044}" destId="{74CEE834-C587-43C2-8AEE-38CFAE7B8E22}" srcOrd="0" destOrd="0" presId="urn:microsoft.com/office/officeart/2011/layout/TabList"/>
    <dgm:cxn modelId="{00061C8A-3ED8-45D7-A860-AC0416C2F222}" srcId="{ED8748D6-75CF-47D6-BC14-044C2449D7F2}" destId="{FA525174-0E49-4EAA-9F5D-E231AD53602E}" srcOrd="0" destOrd="0" parTransId="{25ECF94D-CAF8-4AFC-8DD9-56B4CA2F367E}" sibTransId="{FA23EA7B-04D1-48C0-B6F4-94F37CDF9FAF}"/>
    <dgm:cxn modelId="{F9A2E699-83A6-4E54-9CB3-B3AB0F6D982A}" type="presOf" srcId="{6641B54D-EF4F-41F2-84BD-01664E93E43F}" destId="{07C8EECD-0AF6-49D0-AC01-2BAF1B9C2AAB}" srcOrd="0" destOrd="0" presId="urn:microsoft.com/office/officeart/2011/layout/TabList"/>
    <dgm:cxn modelId="{CAB049A5-5F9F-4827-926E-F919B4DF49B3}" srcId="{5C07ED7D-1515-49B2-A4FF-0CC66A899FB4}" destId="{12959640-55E4-4154-9AC0-323BFE5B56EF}" srcOrd="1" destOrd="0" parTransId="{1DD7E38C-9FF4-4A72-B7AE-23E6DC770EE2}" sibTransId="{17FBF3A1-7782-45C9-AC39-5A8D6BB7C10A}"/>
    <dgm:cxn modelId="{E83256A5-1333-4AD8-ADB6-FAE0E9374BA7}" type="presOf" srcId="{4CB7B63B-5146-4507-B137-4F5249BECF42}" destId="{1036CC8E-A650-45B0-978D-1A43884F28E8}" srcOrd="0" destOrd="0" presId="urn:microsoft.com/office/officeart/2011/layout/TabList"/>
    <dgm:cxn modelId="{B83E8AA8-982C-4723-A8A6-244E5194E28E}" srcId="{16A09BCF-3B41-4AC1-A7C1-94CBE14BA170}" destId="{19EFB88A-6F97-4264-B399-882D67954384}" srcOrd="0" destOrd="0" parTransId="{21BC8993-E933-49F3-9336-1AA383E44D25}" sibTransId="{8DEC184C-8C68-49FA-A820-8CB7085C6831}"/>
    <dgm:cxn modelId="{A31D74B0-C3BE-4386-865B-2A90511081EA}" srcId="{16A09BCF-3B41-4AC1-A7C1-94CBE14BA170}" destId="{4CB7B63B-5146-4507-B137-4F5249BECF42}" srcOrd="1" destOrd="0" parTransId="{8025FAF6-FDD0-4BE5-A13B-0383D8F7627C}" sibTransId="{19A2B2C4-2489-4DB7-A7DA-837BB6EDB555}"/>
    <dgm:cxn modelId="{890BEDB8-EC4E-4A83-AD56-95F0E425F394}" type="presOf" srcId="{ED8748D6-75CF-47D6-BC14-044C2449D7F2}" destId="{900F3C29-A229-4DE6-8E24-0B76F9125E77}" srcOrd="0" destOrd="0" presId="urn:microsoft.com/office/officeart/2011/layout/TabList"/>
    <dgm:cxn modelId="{E934DBB9-2D36-4B85-AD43-D59AC6F33C81}" type="presOf" srcId="{458B508D-B539-4670-9264-A20D56B4F07F}" destId="{FBB2335A-FCFF-444A-BF41-3C89EB3F5ED8}" srcOrd="0" destOrd="0" presId="urn:microsoft.com/office/officeart/2011/layout/TabList"/>
    <dgm:cxn modelId="{201DB5CE-CFCB-4748-ADFE-AF55C7F30D9E}" srcId="{458B508D-B539-4670-9264-A20D56B4F07F}" destId="{16A09BCF-3B41-4AC1-A7C1-94CBE14BA170}" srcOrd="2" destOrd="0" parTransId="{5F06924E-D5E4-4389-A97D-A2DA8F764404}" sibTransId="{B3C8829C-CA30-4FA5-AD73-28FE78D0CC3D}"/>
    <dgm:cxn modelId="{0FC14DDB-C0D6-444E-90ED-42DF57861076}" type="presOf" srcId="{16A09BCF-3B41-4AC1-A7C1-94CBE14BA170}" destId="{769E45B7-8CCE-4CD6-86C2-7F76959B60BB}" srcOrd="0" destOrd="0" presId="urn:microsoft.com/office/officeart/2011/layout/TabList"/>
    <dgm:cxn modelId="{6899E5E5-8690-4C88-9D47-D6D9DD96689F}" type="presOf" srcId="{19EFB88A-6F97-4264-B399-882D67954384}" destId="{E9712A4A-6246-4DFC-A872-E1E92184070E}" srcOrd="0" destOrd="0" presId="urn:microsoft.com/office/officeart/2011/layout/TabList"/>
    <dgm:cxn modelId="{620204E8-29FB-4FE9-B8E9-CEC706B9E6A1}" srcId="{5C07ED7D-1515-49B2-A4FF-0CC66A899FB4}" destId="{6641B54D-EF4F-41F2-84BD-01664E93E43F}" srcOrd="0" destOrd="0" parTransId="{1B4B2A39-C818-4D03-AF58-6FB853A4D115}" sibTransId="{A966F561-0874-4573-BEEB-3BAA69301019}"/>
    <dgm:cxn modelId="{686F32F6-9C98-46FE-B125-B3642C107423}" srcId="{ED8748D6-75CF-47D6-BC14-044C2449D7F2}" destId="{2F3EC502-DE2E-4467-9718-D3767729F044}" srcOrd="1" destOrd="0" parTransId="{6A6AD559-3B50-47FD-8391-BBBBDD8CDDA1}" sibTransId="{E2CD02F9-D34A-4D05-98CC-F6DBE600D619}"/>
    <dgm:cxn modelId="{86EE55CC-B2DF-41D0-BD59-86145A6D3D03}" type="presParOf" srcId="{FBB2335A-FCFF-444A-BF41-3C89EB3F5ED8}" destId="{92C7C862-15E5-43D6-89E1-2FEDA59E5FEB}" srcOrd="0" destOrd="0" presId="urn:microsoft.com/office/officeart/2011/layout/TabList"/>
    <dgm:cxn modelId="{3DC1AE94-B60B-46A0-A97F-B7105A48848D}" type="presParOf" srcId="{92C7C862-15E5-43D6-89E1-2FEDA59E5FEB}" destId="{42AE5C2E-EC10-44F9-90C4-46A6F6D79DCD}" srcOrd="0" destOrd="0" presId="urn:microsoft.com/office/officeart/2011/layout/TabList"/>
    <dgm:cxn modelId="{BCFB5B43-D84D-4B2C-8493-C9E111767A42}" type="presParOf" srcId="{92C7C862-15E5-43D6-89E1-2FEDA59E5FEB}" destId="{900F3C29-A229-4DE6-8E24-0B76F9125E77}" srcOrd="1" destOrd="0" presId="urn:microsoft.com/office/officeart/2011/layout/TabList"/>
    <dgm:cxn modelId="{CABD818B-387B-449E-BF50-9DE20B82D1C1}" type="presParOf" srcId="{92C7C862-15E5-43D6-89E1-2FEDA59E5FEB}" destId="{AF827E24-CE62-4340-9B74-F007C6AEEAE9}" srcOrd="2" destOrd="0" presId="urn:microsoft.com/office/officeart/2011/layout/TabList"/>
    <dgm:cxn modelId="{258E00EA-9FBA-4C87-A6AA-728CC3ACB077}" type="presParOf" srcId="{FBB2335A-FCFF-444A-BF41-3C89EB3F5ED8}" destId="{74CEE834-C587-43C2-8AEE-38CFAE7B8E22}" srcOrd="1" destOrd="0" presId="urn:microsoft.com/office/officeart/2011/layout/TabList"/>
    <dgm:cxn modelId="{DCD3845B-3D11-4C17-9520-8F5C82532C2F}" type="presParOf" srcId="{FBB2335A-FCFF-444A-BF41-3C89EB3F5ED8}" destId="{C33FF2D4-C211-45E3-9B18-827C25E63A6C}" srcOrd="2" destOrd="0" presId="urn:microsoft.com/office/officeart/2011/layout/TabList"/>
    <dgm:cxn modelId="{AD364937-5F91-4E0F-A60E-98CB1748E4ED}" type="presParOf" srcId="{FBB2335A-FCFF-444A-BF41-3C89EB3F5ED8}" destId="{81E1910F-A603-445E-B3F9-1C8A0DF0A7F8}" srcOrd="3" destOrd="0" presId="urn:microsoft.com/office/officeart/2011/layout/TabList"/>
    <dgm:cxn modelId="{EDF5B387-E1F5-4174-BB14-4C65BF04425B}" type="presParOf" srcId="{81E1910F-A603-445E-B3F9-1C8A0DF0A7F8}" destId="{07C8EECD-0AF6-49D0-AC01-2BAF1B9C2AAB}" srcOrd="0" destOrd="0" presId="urn:microsoft.com/office/officeart/2011/layout/TabList"/>
    <dgm:cxn modelId="{671009C0-AED5-4AD8-9480-CBC23DEBC855}" type="presParOf" srcId="{81E1910F-A603-445E-B3F9-1C8A0DF0A7F8}" destId="{C2966D70-0646-4452-9146-992CD402A299}" srcOrd="1" destOrd="0" presId="urn:microsoft.com/office/officeart/2011/layout/TabList"/>
    <dgm:cxn modelId="{E5BD0F3E-C1EA-4F6E-B7CF-439869171CB8}" type="presParOf" srcId="{81E1910F-A603-445E-B3F9-1C8A0DF0A7F8}" destId="{75B517BA-A9BF-48C1-B945-89D1CD86CC1A}" srcOrd="2" destOrd="0" presId="urn:microsoft.com/office/officeart/2011/layout/TabList"/>
    <dgm:cxn modelId="{39A51949-5BEA-436F-8644-680CA79C38FC}" type="presParOf" srcId="{FBB2335A-FCFF-444A-BF41-3C89EB3F5ED8}" destId="{CD29D447-7A5E-40FC-B275-03F78226C3F8}" srcOrd="4" destOrd="0" presId="urn:microsoft.com/office/officeart/2011/layout/TabList"/>
    <dgm:cxn modelId="{DDA7D3AA-351D-4C1F-8460-2B1D488FE9A3}" type="presParOf" srcId="{FBB2335A-FCFF-444A-BF41-3C89EB3F5ED8}" destId="{3673D681-3F5F-4882-8E1B-DE3532321D58}" srcOrd="5" destOrd="0" presId="urn:microsoft.com/office/officeart/2011/layout/TabList"/>
    <dgm:cxn modelId="{E9694371-ED26-4B8B-8064-647ED0D881B4}" type="presParOf" srcId="{FBB2335A-FCFF-444A-BF41-3C89EB3F5ED8}" destId="{BEFA7F29-A870-48E8-B23E-F3065F1C68A9}" srcOrd="6" destOrd="0" presId="urn:microsoft.com/office/officeart/2011/layout/TabList"/>
    <dgm:cxn modelId="{36DCE293-03D7-4A7D-BBA2-6AAA16DAC09F}" type="presParOf" srcId="{BEFA7F29-A870-48E8-B23E-F3065F1C68A9}" destId="{E9712A4A-6246-4DFC-A872-E1E92184070E}" srcOrd="0" destOrd="0" presId="urn:microsoft.com/office/officeart/2011/layout/TabList"/>
    <dgm:cxn modelId="{0C44032A-8029-4E77-9F56-7DD5E4882D6D}" type="presParOf" srcId="{BEFA7F29-A870-48E8-B23E-F3065F1C68A9}" destId="{769E45B7-8CCE-4CD6-86C2-7F76959B60BB}" srcOrd="1" destOrd="0" presId="urn:microsoft.com/office/officeart/2011/layout/TabList"/>
    <dgm:cxn modelId="{83365F1B-CC56-41E4-8A52-FE4D583D8FD3}" type="presParOf" srcId="{BEFA7F29-A870-48E8-B23E-F3065F1C68A9}" destId="{ADD3E777-9526-4166-A858-DF0CE25FA1A9}" srcOrd="2" destOrd="0" presId="urn:microsoft.com/office/officeart/2011/layout/TabList"/>
    <dgm:cxn modelId="{A20A4B89-1F31-4577-B1F3-FFD21907E974}" type="presParOf" srcId="{FBB2335A-FCFF-444A-BF41-3C89EB3F5ED8}" destId="{1036CC8E-A650-45B0-978D-1A43884F28E8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105D05-5168-4BF6-986C-78C4BC3593BD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1D3F35-D3C0-4F1C-BA40-DFC333062CB1}">
      <dgm:prSet phldrT="[Text]" phldr="0" custT="1"/>
      <dgm:spPr>
        <a:solidFill>
          <a:srgbClr val="789F69"/>
        </a:solidFill>
        <a:ln>
          <a:solidFill>
            <a:srgbClr val="789F69"/>
          </a:solidFill>
        </a:ln>
      </dgm:spPr>
      <dgm:t>
        <a:bodyPr/>
        <a:lstStyle/>
        <a:p>
          <a:r>
            <a:rPr lang="en-US" sz="1200" dirty="0">
              <a:latin typeface="Algerian" panose="04020705040A02060702" pitchFamily="82" charset="0"/>
            </a:rPr>
            <a:t>CROPS</a:t>
          </a:r>
        </a:p>
        <a:p>
          <a:endParaRPr lang="en-US" sz="1000" dirty="0"/>
        </a:p>
      </dgm:t>
    </dgm:pt>
    <dgm:pt modelId="{454DA491-7E34-4D2D-87A6-8E441E1ADBDE}" type="parTrans" cxnId="{B6441EC1-498D-4FA5-8A3B-E584E9CC444D}">
      <dgm:prSet/>
      <dgm:spPr/>
      <dgm:t>
        <a:bodyPr/>
        <a:lstStyle/>
        <a:p>
          <a:endParaRPr lang="en-US"/>
        </a:p>
      </dgm:t>
    </dgm:pt>
    <dgm:pt modelId="{41F1A071-94E8-4E70-9CDA-67361979AD5A}" type="sibTrans" cxnId="{B6441EC1-498D-4FA5-8A3B-E584E9CC444D}">
      <dgm:prSet/>
      <dgm:spPr/>
      <dgm:t>
        <a:bodyPr/>
        <a:lstStyle/>
        <a:p>
          <a:endParaRPr lang="en-US"/>
        </a:p>
      </dgm:t>
    </dgm:pt>
    <dgm:pt modelId="{1B4869E5-03AA-4D30-A4CB-B008E415EBE3}">
      <dgm:prSet phldrT="[Text]" phldr="0" custT="1"/>
      <dgm:spPr/>
      <dgm:t>
        <a:bodyPr/>
        <a:lstStyle/>
        <a:p>
          <a:endParaRPr lang="en-US" sz="1600" dirty="0">
            <a:solidFill>
              <a:schemeClr val="accent4">
                <a:lumMod val="20000"/>
                <a:lumOff val="80000"/>
              </a:schemeClr>
            </a:solidFill>
            <a:latin typeface="Impact" panose="020B0806030902050204" pitchFamily="34" charset="0"/>
          </a:endParaRPr>
        </a:p>
        <a:p>
          <a:r>
            <a: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Kaggle Dataset</a:t>
          </a:r>
        </a:p>
        <a:p>
          <a:r>
            <a:rPr lang="en-US" sz="1200" dirty="0"/>
            <a:t> </a:t>
          </a:r>
        </a:p>
      </dgm:t>
    </dgm:pt>
    <dgm:pt modelId="{1968D69A-7BE8-482B-BF80-B58A61182609}" type="parTrans" cxnId="{B293FD8A-2203-4E48-B7EF-59D40D004FDD}">
      <dgm:prSet/>
      <dgm:spPr/>
      <dgm:t>
        <a:bodyPr/>
        <a:lstStyle/>
        <a:p>
          <a:endParaRPr lang="en-US"/>
        </a:p>
      </dgm:t>
    </dgm:pt>
    <dgm:pt modelId="{FC06FA6A-4A4E-4C42-92CC-2F44607C0C3B}" type="sibTrans" cxnId="{B293FD8A-2203-4E48-B7EF-59D40D004FDD}">
      <dgm:prSet/>
      <dgm:spPr/>
      <dgm:t>
        <a:bodyPr/>
        <a:lstStyle/>
        <a:p>
          <a:endParaRPr lang="en-US"/>
        </a:p>
      </dgm:t>
    </dgm:pt>
    <dgm:pt modelId="{BE493810-B18E-4519-BAC3-8FF9CD93240F}">
      <dgm:prSet phldrT="[Text]" phldr="0" custT="1"/>
      <dgm:spPr/>
      <dgm:t>
        <a:bodyPr/>
        <a:lstStyle/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2,200 labeled records</a:t>
          </a:r>
        </a:p>
        <a:p>
          <a:r>
            <a:rPr lang="en-US" sz="1200" dirty="0">
              <a:solidFill>
                <a:schemeClr val="accent3">
                  <a:lumMod val="40000"/>
                  <a:lumOff val="60000"/>
                </a:schemeClr>
              </a:solidFill>
            </a:rPr>
            <a:t>Crop Recommendation training</a:t>
          </a:r>
        </a:p>
        <a:p>
          <a:endParaRPr lang="en-US" sz="900" dirty="0"/>
        </a:p>
      </dgm:t>
    </dgm:pt>
    <dgm:pt modelId="{43FF746E-6A3A-4CEE-A012-4C58CB841DD6}" type="parTrans" cxnId="{E2ACEED3-66E0-4CC8-B8FB-64DDBEF87FDA}">
      <dgm:prSet/>
      <dgm:spPr/>
      <dgm:t>
        <a:bodyPr/>
        <a:lstStyle/>
        <a:p>
          <a:endParaRPr lang="en-US"/>
        </a:p>
      </dgm:t>
    </dgm:pt>
    <dgm:pt modelId="{85C5E28A-1EDF-493F-AE06-B6F6FD0FA423}" type="sibTrans" cxnId="{E2ACEED3-66E0-4CC8-B8FB-64DDBEF87FDA}">
      <dgm:prSet/>
      <dgm:spPr/>
      <dgm:t>
        <a:bodyPr/>
        <a:lstStyle/>
        <a:p>
          <a:endParaRPr lang="en-US"/>
        </a:p>
      </dgm:t>
    </dgm:pt>
    <dgm:pt modelId="{92D21ED7-CFA0-4FFF-9FF4-D4439AEC006D}">
      <dgm:prSet phldrT="[Text]" phldr="0" custT="1"/>
      <dgm:spPr>
        <a:solidFill>
          <a:srgbClr val="789F69"/>
        </a:solidFill>
        <a:ln>
          <a:solidFill>
            <a:srgbClr val="789F69"/>
          </a:solidFill>
        </a:ln>
      </dgm:spPr>
      <dgm:t>
        <a:bodyPr/>
        <a:lstStyle/>
        <a:p>
          <a:r>
            <a:rPr lang="en-US" sz="1200" dirty="0">
              <a:latin typeface="Algerian" panose="04020705040A02060702" pitchFamily="82" charset="0"/>
            </a:rPr>
            <a:t>PAPERS</a:t>
          </a:r>
        </a:p>
        <a:p>
          <a:endParaRPr lang="en-US" sz="1100" dirty="0"/>
        </a:p>
      </dgm:t>
    </dgm:pt>
    <dgm:pt modelId="{B67FB4CB-FAD5-45AE-AA2B-B76426FB2B79}" type="parTrans" cxnId="{37F13A4A-B26B-4661-A9C4-B3EDEA155BCE}">
      <dgm:prSet/>
      <dgm:spPr/>
      <dgm:t>
        <a:bodyPr/>
        <a:lstStyle/>
        <a:p>
          <a:endParaRPr lang="en-US"/>
        </a:p>
      </dgm:t>
    </dgm:pt>
    <dgm:pt modelId="{8BA78520-7332-4303-9605-E4D1B39D98A4}" type="sibTrans" cxnId="{37F13A4A-B26B-4661-A9C4-B3EDEA155BCE}">
      <dgm:prSet/>
      <dgm:spPr/>
      <dgm:t>
        <a:bodyPr/>
        <a:lstStyle/>
        <a:p>
          <a:endParaRPr lang="en-US"/>
        </a:p>
      </dgm:t>
    </dgm:pt>
    <dgm:pt modelId="{CDAE48CA-3692-4889-A4B3-15A4D5C26CF9}">
      <dgm:prSet phldrT="[Text]" phldr="0" custT="1"/>
      <dgm:spPr/>
      <dgm:t>
        <a:bodyPr/>
        <a:lstStyle/>
        <a:p>
          <a:r>
            <a: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Research Refs</a:t>
          </a:r>
        </a:p>
        <a:p>
          <a:endParaRPr lang="en-US" sz="1200" dirty="0"/>
        </a:p>
      </dgm:t>
    </dgm:pt>
    <dgm:pt modelId="{20310D08-D817-4430-BE07-F0D2E37B6187}" type="parTrans" cxnId="{2E04C606-AD14-4826-8F97-012A2DDD7ECE}">
      <dgm:prSet/>
      <dgm:spPr/>
      <dgm:t>
        <a:bodyPr/>
        <a:lstStyle/>
        <a:p>
          <a:endParaRPr lang="en-US"/>
        </a:p>
      </dgm:t>
    </dgm:pt>
    <dgm:pt modelId="{4F76DD9B-BDE8-4464-9568-176747609FFA}" type="sibTrans" cxnId="{2E04C606-AD14-4826-8F97-012A2DDD7ECE}">
      <dgm:prSet/>
      <dgm:spPr/>
      <dgm:t>
        <a:bodyPr/>
        <a:lstStyle/>
        <a:p>
          <a:endParaRPr lang="en-US"/>
        </a:p>
      </dgm:t>
    </dgm:pt>
    <dgm:pt modelId="{44140558-4EEF-4B27-9B85-D08B5F0EBE5C}">
      <dgm:prSet phldrT="[Text]" phldr="0" custT="1"/>
      <dgm:spPr/>
      <dgm:t>
        <a:bodyPr/>
        <a:lstStyle/>
        <a:p>
          <a:r>
            <a:rPr lang="en-US" sz="1400" dirty="0">
              <a:solidFill>
                <a:schemeClr val="accent3">
                  <a:lumMod val="40000"/>
                  <a:lumOff val="60000"/>
                </a:schemeClr>
              </a:solidFill>
            </a:rPr>
            <a:t>Mohanty et al. (2016)</a:t>
          </a:r>
        </a:p>
        <a:p>
          <a:r>
            <a:rPr lang="en-US" sz="1400" dirty="0">
              <a:solidFill>
                <a:schemeClr val="accent3">
                  <a:lumMod val="40000"/>
                  <a:lumOff val="60000"/>
                </a:schemeClr>
              </a:solidFill>
            </a:rPr>
            <a:t> Paliwal &amp; Upadhyay (2025)</a:t>
          </a:r>
        </a:p>
        <a:p>
          <a:endParaRPr lang="en-US" sz="900" dirty="0"/>
        </a:p>
      </dgm:t>
    </dgm:pt>
    <dgm:pt modelId="{8FD20ECD-C991-4F2E-9290-B8DA0884FB5B}" type="parTrans" cxnId="{D89E72DD-FD05-4D4C-9F7B-F6C52A68CA13}">
      <dgm:prSet/>
      <dgm:spPr/>
      <dgm:t>
        <a:bodyPr/>
        <a:lstStyle/>
        <a:p>
          <a:endParaRPr lang="en-US"/>
        </a:p>
      </dgm:t>
    </dgm:pt>
    <dgm:pt modelId="{A365179B-7BDC-45BD-A714-C5CE98611972}" type="sibTrans" cxnId="{D89E72DD-FD05-4D4C-9F7B-F6C52A68CA13}">
      <dgm:prSet/>
      <dgm:spPr/>
      <dgm:t>
        <a:bodyPr/>
        <a:lstStyle/>
        <a:p>
          <a:endParaRPr lang="en-US"/>
        </a:p>
      </dgm:t>
    </dgm:pt>
    <dgm:pt modelId="{03D78485-3874-45CC-8ED4-01A0AE614269}">
      <dgm:prSet phldrT="[Text]" phldr="0" custT="1"/>
      <dgm:spPr>
        <a:solidFill>
          <a:srgbClr val="789F69"/>
        </a:solidFill>
        <a:ln>
          <a:solidFill>
            <a:srgbClr val="789F69"/>
          </a:solidFill>
        </a:ln>
      </dgm:spPr>
      <dgm:t>
        <a:bodyPr/>
        <a:lstStyle/>
        <a:p>
          <a:r>
            <a:rPr lang="en-US" sz="1200" dirty="0">
              <a:latin typeface="Algerian" panose="04020705040A02060702" pitchFamily="82" charset="0"/>
            </a:rPr>
            <a:t>DISEASE</a:t>
          </a:r>
        </a:p>
        <a:p>
          <a:endParaRPr lang="en-US" sz="1100" dirty="0"/>
        </a:p>
      </dgm:t>
    </dgm:pt>
    <dgm:pt modelId="{74396AED-DFF3-43F2-A0CB-88BEB55D74B0}" type="parTrans" cxnId="{835E94E5-EB08-45B2-9FE4-975C97C643B7}">
      <dgm:prSet/>
      <dgm:spPr/>
      <dgm:t>
        <a:bodyPr/>
        <a:lstStyle/>
        <a:p>
          <a:endParaRPr lang="en-US"/>
        </a:p>
      </dgm:t>
    </dgm:pt>
    <dgm:pt modelId="{8DBD39A8-A7F8-4B4A-80F3-8D2971AF392E}" type="sibTrans" cxnId="{835E94E5-EB08-45B2-9FE4-975C97C643B7}">
      <dgm:prSet/>
      <dgm:spPr/>
      <dgm:t>
        <a:bodyPr/>
        <a:lstStyle/>
        <a:p>
          <a:endParaRPr lang="en-US"/>
        </a:p>
      </dgm:t>
    </dgm:pt>
    <dgm:pt modelId="{68569A24-A02F-4226-9F2F-B73874D229C3}">
      <dgm:prSet phldrT="[Text]" phldr="0" custT="1"/>
      <dgm:spPr/>
      <dgm:t>
        <a:bodyPr/>
        <a:lstStyle/>
        <a:p>
          <a:r>
            <a: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 Plant Village</a:t>
          </a:r>
        </a:p>
        <a:p>
          <a:endParaRPr lang="en-US" sz="1200" dirty="0"/>
        </a:p>
      </dgm:t>
    </dgm:pt>
    <dgm:pt modelId="{1A99BE23-D988-4B31-927D-E48A5EECF604}" type="parTrans" cxnId="{5078F5F2-5538-4748-A51A-0E72884DA4EC}">
      <dgm:prSet/>
      <dgm:spPr/>
      <dgm:t>
        <a:bodyPr/>
        <a:lstStyle/>
        <a:p>
          <a:endParaRPr lang="en-US"/>
        </a:p>
      </dgm:t>
    </dgm:pt>
    <dgm:pt modelId="{5EEF54B6-CEB1-4A72-8DF1-68EC343CEE4D}" type="sibTrans" cxnId="{5078F5F2-5538-4748-A51A-0E72884DA4EC}">
      <dgm:prSet/>
      <dgm:spPr/>
      <dgm:t>
        <a:bodyPr/>
        <a:lstStyle/>
        <a:p>
          <a:endParaRPr lang="en-US"/>
        </a:p>
      </dgm:t>
    </dgm:pt>
    <dgm:pt modelId="{3387240A-A713-4BBE-B9A6-B80FD81B2DFA}">
      <dgm:prSet phldrT="[Text]" phldr="0" custT="1"/>
      <dgm:spPr/>
      <dgm:t>
        <a:bodyPr/>
        <a:lstStyle/>
        <a:p>
          <a:r>
            <a:rPr lang="en-US" sz="1100" dirty="0">
              <a:solidFill>
                <a:schemeClr val="accent3">
                  <a:lumMod val="40000"/>
                  <a:lumOff val="60000"/>
                </a:schemeClr>
              </a:solidFill>
            </a:rPr>
            <a:t>54,306 disease images</a:t>
          </a:r>
        </a:p>
        <a:p>
          <a:r>
            <a:rPr lang="en-US" sz="1100" dirty="0">
              <a:solidFill>
                <a:schemeClr val="accent3">
                  <a:lumMod val="40000"/>
                  <a:lumOff val="60000"/>
                </a:schemeClr>
              </a:solidFill>
            </a:rPr>
            <a:t>CNN Model training data</a:t>
          </a:r>
        </a:p>
        <a:p>
          <a:endParaRPr lang="en-US" sz="900" dirty="0"/>
        </a:p>
      </dgm:t>
    </dgm:pt>
    <dgm:pt modelId="{2AEAB665-3405-4E3F-993D-35E57CED9CA0}" type="parTrans" cxnId="{9603EE5C-7429-4BA8-BACA-071E09F5BAEF}">
      <dgm:prSet/>
      <dgm:spPr/>
      <dgm:t>
        <a:bodyPr/>
        <a:lstStyle/>
        <a:p>
          <a:endParaRPr lang="en-US"/>
        </a:p>
      </dgm:t>
    </dgm:pt>
    <dgm:pt modelId="{711DE1AE-B064-4497-A221-B27BBE2FE665}" type="sibTrans" cxnId="{9603EE5C-7429-4BA8-BACA-071E09F5BAEF}">
      <dgm:prSet/>
      <dgm:spPr/>
      <dgm:t>
        <a:bodyPr/>
        <a:lstStyle/>
        <a:p>
          <a:endParaRPr lang="en-US"/>
        </a:p>
      </dgm:t>
    </dgm:pt>
    <dgm:pt modelId="{14C45266-3584-4F1B-B40E-B64B28424698}" type="pres">
      <dgm:prSet presAssocID="{F0105D05-5168-4BF6-986C-78C4BC3593BD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3FDC24DA-E7A7-4150-B81A-F47DD28A9E12}" type="pres">
      <dgm:prSet presAssocID="{9F1D3F35-D3C0-4F1C-BA40-DFC333062CB1}" presName="composite" presStyleCnt="0"/>
      <dgm:spPr/>
    </dgm:pt>
    <dgm:pt modelId="{D8738FCC-740D-4533-A1B8-88C1FF528FA4}" type="pres">
      <dgm:prSet presAssocID="{9F1D3F35-D3C0-4F1C-BA40-DFC333062CB1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D6930D74-0DAA-4B7D-B668-2CAFA38879A0}" type="pres">
      <dgm:prSet presAssocID="{9F1D3F35-D3C0-4F1C-BA40-DFC333062CB1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05D1E347-71CA-4293-AABD-D22968697903}" type="pres">
      <dgm:prSet presAssocID="{9F1D3F35-D3C0-4F1C-BA40-DFC333062CB1}" presName="Accent" presStyleLbl="parChTrans1D1" presStyleIdx="0" presStyleCnt="3"/>
      <dgm:spPr>
        <a:ln>
          <a:solidFill>
            <a:srgbClr val="789F69"/>
          </a:solidFill>
        </a:ln>
      </dgm:spPr>
    </dgm:pt>
    <dgm:pt modelId="{14B948A0-A1BA-48A6-A63A-2048F979CC6F}" type="pres">
      <dgm:prSet presAssocID="{9F1D3F35-D3C0-4F1C-BA40-DFC333062CB1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DA0FF429-2294-41FE-A045-F4A76C7E7E6B}" type="pres">
      <dgm:prSet presAssocID="{41F1A071-94E8-4E70-9CDA-67361979AD5A}" presName="sibTrans" presStyleCnt="0"/>
      <dgm:spPr/>
    </dgm:pt>
    <dgm:pt modelId="{1255F4AC-30A5-461E-93D7-F2553A51060A}" type="pres">
      <dgm:prSet presAssocID="{92D21ED7-CFA0-4FFF-9FF4-D4439AEC006D}" presName="composite" presStyleCnt="0"/>
      <dgm:spPr/>
    </dgm:pt>
    <dgm:pt modelId="{8510C359-FB57-4406-980E-24CCD2624224}" type="pres">
      <dgm:prSet presAssocID="{92D21ED7-CFA0-4FFF-9FF4-D4439AEC006D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B640462F-94EE-4AB8-B02C-504DEA7F461B}" type="pres">
      <dgm:prSet presAssocID="{92D21ED7-CFA0-4FFF-9FF4-D4439AEC006D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46D02032-4CA6-4617-86C1-C42CEE2C5CAF}" type="pres">
      <dgm:prSet presAssocID="{92D21ED7-CFA0-4FFF-9FF4-D4439AEC006D}" presName="Accent" presStyleLbl="parChTrans1D1" presStyleIdx="1" presStyleCnt="3"/>
      <dgm:spPr>
        <a:ln>
          <a:solidFill>
            <a:srgbClr val="789F69"/>
          </a:solidFill>
        </a:ln>
      </dgm:spPr>
    </dgm:pt>
    <dgm:pt modelId="{73C71F81-CFFE-4DCA-82E0-43B1964FB3D9}" type="pres">
      <dgm:prSet presAssocID="{92D21ED7-CFA0-4FFF-9FF4-D4439AEC006D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ED57F03-92C7-4D18-BFB6-2C324AD03389}" type="pres">
      <dgm:prSet presAssocID="{8BA78520-7332-4303-9605-E4D1B39D98A4}" presName="sibTrans" presStyleCnt="0"/>
      <dgm:spPr/>
    </dgm:pt>
    <dgm:pt modelId="{57EA64CA-04BE-42A6-8878-CE003B40019E}" type="pres">
      <dgm:prSet presAssocID="{03D78485-3874-45CC-8ED4-01A0AE614269}" presName="composite" presStyleCnt="0"/>
      <dgm:spPr/>
    </dgm:pt>
    <dgm:pt modelId="{936AA120-F125-400C-940D-5557F4983289}" type="pres">
      <dgm:prSet presAssocID="{03D78485-3874-45CC-8ED4-01A0AE614269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68A43926-D101-448F-A22B-91D3396BAE7F}" type="pres">
      <dgm:prSet presAssocID="{03D78485-3874-45CC-8ED4-01A0AE614269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653E9D50-6CFF-4479-A0AF-BCC075933F16}" type="pres">
      <dgm:prSet presAssocID="{03D78485-3874-45CC-8ED4-01A0AE614269}" presName="Accent" presStyleLbl="parChTrans1D1" presStyleIdx="2" presStyleCnt="3"/>
      <dgm:spPr>
        <a:ln>
          <a:solidFill>
            <a:srgbClr val="789F69"/>
          </a:solidFill>
        </a:ln>
      </dgm:spPr>
    </dgm:pt>
    <dgm:pt modelId="{BB52B197-E5C6-4B97-9E59-83690722F6DA}" type="pres">
      <dgm:prSet presAssocID="{03D78485-3874-45CC-8ED4-01A0AE614269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E04C606-AD14-4826-8F97-012A2DDD7ECE}" srcId="{92D21ED7-CFA0-4FFF-9FF4-D4439AEC006D}" destId="{CDAE48CA-3692-4889-A4B3-15A4D5C26CF9}" srcOrd="0" destOrd="0" parTransId="{20310D08-D817-4430-BE07-F0D2E37B6187}" sibTransId="{4F76DD9B-BDE8-4464-9568-176747609FFA}"/>
    <dgm:cxn modelId="{D27D9E0E-6896-4599-90BA-D7673CB8F7A0}" type="presOf" srcId="{44140558-4EEF-4B27-9B85-D08B5F0EBE5C}" destId="{73C71F81-CFFE-4DCA-82E0-43B1964FB3D9}" srcOrd="0" destOrd="0" presId="urn:microsoft.com/office/officeart/2011/layout/TabList"/>
    <dgm:cxn modelId="{CF5F3613-4AF6-4F5B-AEE4-EF3D228E1B2C}" type="presOf" srcId="{9F1D3F35-D3C0-4F1C-BA40-DFC333062CB1}" destId="{D6930D74-0DAA-4B7D-B668-2CAFA38879A0}" srcOrd="0" destOrd="0" presId="urn:microsoft.com/office/officeart/2011/layout/TabList"/>
    <dgm:cxn modelId="{8582031F-F724-4CB6-8DED-D079D2860E77}" type="presOf" srcId="{CDAE48CA-3692-4889-A4B3-15A4D5C26CF9}" destId="{8510C359-FB57-4406-980E-24CCD2624224}" srcOrd="0" destOrd="0" presId="urn:microsoft.com/office/officeart/2011/layout/TabList"/>
    <dgm:cxn modelId="{9603EE5C-7429-4BA8-BACA-071E09F5BAEF}" srcId="{03D78485-3874-45CC-8ED4-01A0AE614269}" destId="{3387240A-A713-4BBE-B9A6-B80FD81B2DFA}" srcOrd="1" destOrd="0" parTransId="{2AEAB665-3405-4E3F-993D-35E57CED9CA0}" sibTransId="{711DE1AE-B064-4497-A221-B27BBE2FE665}"/>
    <dgm:cxn modelId="{37F13A4A-B26B-4661-A9C4-B3EDEA155BCE}" srcId="{F0105D05-5168-4BF6-986C-78C4BC3593BD}" destId="{92D21ED7-CFA0-4FFF-9FF4-D4439AEC006D}" srcOrd="1" destOrd="0" parTransId="{B67FB4CB-FAD5-45AE-AA2B-B76426FB2B79}" sibTransId="{8BA78520-7332-4303-9605-E4D1B39D98A4}"/>
    <dgm:cxn modelId="{DB8B2A50-E840-42A4-89D7-CF626FFA70A0}" type="presOf" srcId="{3387240A-A713-4BBE-B9A6-B80FD81B2DFA}" destId="{BB52B197-E5C6-4B97-9E59-83690722F6DA}" srcOrd="0" destOrd="0" presId="urn:microsoft.com/office/officeart/2011/layout/TabList"/>
    <dgm:cxn modelId="{32DF8F56-E419-46D1-8B1E-2D4FC6285CCE}" type="presOf" srcId="{1B4869E5-03AA-4D30-A4CB-B008E415EBE3}" destId="{D8738FCC-740D-4533-A1B8-88C1FF528FA4}" srcOrd="0" destOrd="0" presId="urn:microsoft.com/office/officeart/2011/layout/TabList"/>
    <dgm:cxn modelId="{7DC4CA79-0FD6-4A06-B3E0-A5F7F7990D36}" type="presOf" srcId="{92D21ED7-CFA0-4FFF-9FF4-D4439AEC006D}" destId="{B640462F-94EE-4AB8-B02C-504DEA7F461B}" srcOrd="0" destOrd="0" presId="urn:microsoft.com/office/officeart/2011/layout/TabList"/>
    <dgm:cxn modelId="{B3D8AD85-26A7-4AA4-AF60-A3CB66EBF7E5}" type="presOf" srcId="{BE493810-B18E-4519-BAC3-8FF9CD93240F}" destId="{14B948A0-A1BA-48A6-A63A-2048F979CC6F}" srcOrd="0" destOrd="0" presId="urn:microsoft.com/office/officeart/2011/layout/TabList"/>
    <dgm:cxn modelId="{B293FD8A-2203-4E48-B7EF-59D40D004FDD}" srcId="{9F1D3F35-D3C0-4F1C-BA40-DFC333062CB1}" destId="{1B4869E5-03AA-4D30-A4CB-B008E415EBE3}" srcOrd="0" destOrd="0" parTransId="{1968D69A-7BE8-482B-BF80-B58A61182609}" sibTransId="{FC06FA6A-4A4E-4C42-92CC-2F44607C0C3B}"/>
    <dgm:cxn modelId="{03366DA3-B733-4E74-A077-5804E3A3B22B}" type="presOf" srcId="{68569A24-A02F-4226-9F2F-B73874D229C3}" destId="{936AA120-F125-400C-940D-5557F4983289}" srcOrd="0" destOrd="0" presId="urn:microsoft.com/office/officeart/2011/layout/TabList"/>
    <dgm:cxn modelId="{9F0953BE-84E6-4E92-A358-3319DEE0687B}" type="presOf" srcId="{F0105D05-5168-4BF6-986C-78C4BC3593BD}" destId="{14C45266-3584-4F1B-B40E-B64B28424698}" srcOrd="0" destOrd="0" presId="urn:microsoft.com/office/officeart/2011/layout/TabList"/>
    <dgm:cxn modelId="{B6441EC1-498D-4FA5-8A3B-E584E9CC444D}" srcId="{F0105D05-5168-4BF6-986C-78C4BC3593BD}" destId="{9F1D3F35-D3C0-4F1C-BA40-DFC333062CB1}" srcOrd="0" destOrd="0" parTransId="{454DA491-7E34-4D2D-87A6-8E441E1ADBDE}" sibTransId="{41F1A071-94E8-4E70-9CDA-67361979AD5A}"/>
    <dgm:cxn modelId="{E2ACEED3-66E0-4CC8-B8FB-64DDBEF87FDA}" srcId="{9F1D3F35-D3C0-4F1C-BA40-DFC333062CB1}" destId="{BE493810-B18E-4519-BAC3-8FF9CD93240F}" srcOrd="1" destOrd="0" parTransId="{43FF746E-6A3A-4CEE-A012-4C58CB841DD6}" sibTransId="{85C5E28A-1EDF-493F-AE06-B6F6FD0FA423}"/>
    <dgm:cxn modelId="{D89E72DD-FD05-4D4C-9F7B-F6C52A68CA13}" srcId="{92D21ED7-CFA0-4FFF-9FF4-D4439AEC006D}" destId="{44140558-4EEF-4B27-9B85-D08B5F0EBE5C}" srcOrd="1" destOrd="0" parTransId="{8FD20ECD-C991-4F2E-9290-B8DA0884FB5B}" sibTransId="{A365179B-7BDC-45BD-A714-C5CE98611972}"/>
    <dgm:cxn modelId="{2FE2A6DF-C960-4577-A5BB-078B69269D8D}" type="presOf" srcId="{03D78485-3874-45CC-8ED4-01A0AE614269}" destId="{68A43926-D101-448F-A22B-91D3396BAE7F}" srcOrd="0" destOrd="0" presId="urn:microsoft.com/office/officeart/2011/layout/TabList"/>
    <dgm:cxn modelId="{835E94E5-EB08-45B2-9FE4-975C97C643B7}" srcId="{F0105D05-5168-4BF6-986C-78C4BC3593BD}" destId="{03D78485-3874-45CC-8ED4-01A0AE614269}" srcOrd="2" destOrd="0" parTransId="{74396AED-DFF3-43F2-A0CB-88BEB55D74B0}" sibTransId="{8DBD39A8-A7F8-4B4A-80F3-8D2971AF392E}"/>
    <dgm:cxn modelId="{5078F5F2-5538-4748-A51A-0E72884DA4EC}" srcId="{03D78485-3874-45CC-8ED4-01A0AE614269}" destId="{68569A24-A02F-4226-9F2F-B73874D229C3}" srcOrd="0" destOrd="0" parTransId="{1A99BE23-D988-4B31-927D-E48A5EECF604}" sibTransId="{5EEF54B6-CEB1-4A72-8DF1-68EC343CEE4D}"/>
    <dgm:cxn modelId="{DB2AF228-68B7-4E70-811C-2A4DBE12C866}" type="presParOf" srcId="{14C45266-3584-4F1B-B40E-B64B28424698}" destId="{3FDC24DA-E7A7-4150-B81A-F47DD28A9E12}" srcOrd="0" destOrd="0" presId="urn:microsoft.com/office/officeart/2011/layout/TabList"/>
    <dgm:cxn modelId="{FC378301-60F2-4B85-AAAE-CDD22241EF58}" type="presParOf" srcId="{3FDC24DA-E7A7-4150-B81A-F47DD28A9E12}" destId="{D8738FCC-740D-4533-A1B8-88C1FF528FA4}" srcOrd="0" destOrd="0" presId="urn:microsoft.com/office/officeart/2011/layout/TabList"/>
    <dgm:cxn modelId="{B7ECF7D4-FED2-4EC1-8416-8CA953F8E874}" type="presParOf" srcId="{3FDC24DA-E7A7-4150-B81A-F47DD28A9E12}" destId="{D6930D74-0DAA-4B7D-B668-2CAFA38879A0}" srcOrd="1" destOrd="0" presId="urn:microsoft.com/office/officeart/2011/layout/TabList"/>
    <dgm:cxn modelId="{AB131A85-F533-48D5-B88B-CCA59E56E1A0}" type="presParOf" srcId="{3FDC24DA-E7A7-4150-B81A-F47DD28A9E12}" destId="{05D1E347-71CA-4293-AABD-D22968697903}" srcOrd="2" destOrd="0" presId="urn:microsoft.com/office/officeart/2011/layout/TabList"/>
    <dgm:cxn modelId="{0BE6F603-8D37-4F86-949E-F966C25BAE69}" type="presParOf" srcId="{14C45266-3584-4F1B-B40E-B64B28424698}" destId="{14B948A0-A1BA-48A6-A63A-2048F979CC6F}" srcOrd="1" destOrd="0" presId="urn:microsoft.com/office/officeart/2011/layout/TabList"/>
    <dgm:cxn modelId="{0BFEF455-E469-4A61-89A1-794A69A8091E}" type="presParOf" srcId="{14C45266-3584-4F1B-B40E-B64B28424698}" destId="{DA0FF429-2294-41FE-A045-F4A76C7E7E6B}" srcOrd="2" destOrd="0" presId="urn:microsoft.com/office/officeart/2011/layout/TabList"/>
    <dgm:cxn modelId="{36816CCA-0D51-4EB7-BC08-4E01EAC718E9}" type="presParOf" srcId="{14C45266-3584-4F1B-B40E-B64B28424698}" destId="{1255F4AC-30A5-461E-93D7-F2553A51060A}" srcOrd="3" destOrd="0" presId="urn:microsoft.com/office/officeart/2011/layout/TabList"/>
    <dgm:cxn modelId="{E0BB147D-D34C-44EA-AEBB-B280001A8383}" type="presParOf" srcId="{1255F4AC-30A5-461E-93D7-F2553A51060A}" destId="{8510C359-FB57-4406-980E-24CCD2624224}" srcOrd="0" destOrd="0" presId="urn:microsoft.com/office/officeart/2011/layout/TabList"/>
    <dgm:cxn modelId="{9041842D-5D46-493E-881A-1EEDA9C9C56E}" type="presParOf" srcId="{1255F4AC-30A5-461E-93D7-F2553A51060A}" destId="{B640462F-94EE-4AB8-B02C-504DEA7F461B}" srcOrd="1" destOrd="0" presId="urn:microsoft.com/office/officeart/2011/layout/TabList"/>
    <dgm:cxn modelId="{42760DAF-358E-4497-9595-AB96EEB37C43}" type="presParOf" srcId="{1255F4AC-30A5-461E-93D7-F2553A51060A}" destId="{46D02032-4CA6-4617-86C1-C42CEE2C5CAF}" srcOrd="2" destOrd="0" presId="urn:microsoft.com/office/officeart/2011/layout/TabList"/>
    <dgm:cxn modelId="{7EECE0DC-FCB4-4968-B868-0B0222549332}" type="presParOf" srcId="{14C45266-3584-4F1B-B40E-B64B28424698}" destId="{73C71F81-CFFE-4DCA-82E0-43B1964FB3D9}" srcOrd="4" destOrd="0" presId="urn:microsoft.com/office/officeart/2011/layout/TabList"/>
    <dgm:cxn modelId="{2377C79C-EF62-43C9-8A2E-E73082D36C0F}" type="presParOf" srcId="{14C45266-3584-4F1B-B40E-B64B28424698}" destId="{4ED57F03-92C7-4D18-BFB6-2C324AD03389}" srcOrd="5" destOrd="0" presId="urn:microsoft.com/office/officeart/2011/layout/TabList"/>
    <dgm:cxn modelId="{DF93AF18-9B18-4517-A5F7-97339CF61E6A}" type="presParOf" srcId="{14C45266-3584-4F1B-B40E-B64B28424698}" destId="{57EA64CA-04BE-42A6-8878-CE003B40019E}" srcOrd="6" destOrd="0" presId="urn:microsoft.com/office/officeart/2011/layout/TabList"/>
    <dgm:cxn modelId="{0625F774-1D93-4627-BA65-2C7535D23FC6}" type="presParOf" srcId="{57EA64CA-04BE-42A6-8878-CE003B40019E}" destId="{936AA120-F125-400C-940D-5557F4983289}" srcOrd="0" destOrd="0" presId="urn:microsoft.com/office/officeart/2011/layout/TabList"/>
    <dgm:cxn modelId="{D87A77B3-9ED0-4096-AC87-AF7C820D1DD4}" type="presParOf" srcId="{57EA64CA-04BE-42A6-8878-CE003B40019E}" destId="{68A43926-D101-448F-A22B-91D3396BAE7F}" srcOrd="1" destOrd="0" presId="urn:microsoft.com/office/officeart/2011/layout/TabList"/>
    <dgm:cxn modelId="{36A376BA-3A62-4F5E-951C-F91B628C0B4C}" type="presParOf" srcId="{57EA64CA-04BE-42A6-8878-CE003B40019E}" destId="{653E9D50-6CFF-4479-A0AF-BCC075933F16}" srcOrd="2" destOrd="0" presId="urn:microsoft.com/office/officeart/2011/layout/TabList"/>
    <dgm:cxn modelId="{B16A9B98-D284-464F-AB47-74887D654A52}" type="presParOf" srcId="{14C45266-3584-4F1B-B40E-B64B28424698}" destId="{BB52B197-E5C6-4B97-9E59-83690722F6DA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3E777-9526-4166-A858-DF0CE25FA1A9}">
      <dsp:nvSpPr>
        <dsp:cNvPr id="0" name=""/>
        <dsp:cNvSpPr/>
      </dsp:nvSpPr>
      <dsp:spPr>
        <a:xfrm>
          <a:off x="0" y="4226217"/>
          <a:ext cx="5844519" cy="0"/>
        </a:xfrm>
        <a:prstGeom prst="line">
          <a:avLst/>
        </a:prstGeom>
        <a:noFill/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B517BA-A9BF-48C1-B945-89D1CD86CC1A}">
      <dsp:nvSpPr>
        <dsp:cNvPr id="0" name=""/>
        <dsp:cNvSpPr/>
      </dsp:nvSpPr>
      <dsp:spPr>
        <a:xfrm>
          <a:off x="0" y="2410989"/>
          <a:ext cx="5844519" cy="0"/>
        </a:xfrm>
        <a:prstGeom prst="line">
          <a:avLst/>
        </a:prstGeom>
        <a:noFill/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827E24-CE62-4340-9B74-F007C6AEEAE9}">
      <dsp:nvSpPr>
        <dsp:cNvPr id="0" name=""/>
        <dsp:cNvSpPr/>
      </dsp:nvSpPr>
      <dsp:spPr>
        <a:xfrm>
          <a:off x="0" y="609707"/>
          <a:ext cx="5844519" cy="0"/>
        </a:xfrm>
        <a:prstGeom prst="line">
          <a:avLst/>
        </a:prstGeom>
        <a:noFill/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AE5C2E-EC10-44F9-90C4-46A6F6D79DCD}">
      <dsp:nvSpPr>
        <dsp:cNvPr id="0" name=""/>
        <dsp:cNvSpPr/>
      </dsp:nvSpPr>
      <dsp:spPr>
        <a:xfrm>
          <a:off x="1519574" y="664"/>
          <a:ext cx="4324944" cy="59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Open – Meto API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solidFill>
              <a:schemeClr val="accent4">
                <a:lumMod val="20000"/>
                <a:lumOff val="80000"/>
              </a:schemeClr>
            </a:solidFill>
            <a:latin typeface="Impact" panose="020B0806030902050204" pitchFamily="34" charset="0"/>
          </a:endParaRPr>
        </a:p>
      </dsp:txBody>
      <dsp:txXfrm>
        <a:off x="1519574" y="664"/>
        <a:ext cx="4324944" cy="595098"/>
      </dsp:txXfrm>
    </dsp:sp>
    <dsp:sp modelId="{900F3C29-A229-4DE6-8E24-0B76F9125E77}">
      <dsp:nvSpPr>
        <dsp:cNvPr id="0" name=""/>
        <dsp:cNvSpPr/>
      </dsp:nvSpPr>
      <dsp:spPr>
        <a:xfrm>
          <a:off x="0" y="16797"/>
          <a:ext cx="1519574" cy="595098"/>
        </a:xfrm>
        <a:prstGeom prst="round2SameRect">
          <a:avLst>
            <a:gd name="adj1" fmla="val 16670"/>
            <a:gd name="adj2" fmla="val 0"/>
          </a:avLst>
        </a:prstGeom>
        <a:solidFill>
          <a:srgbClr val="789F69"/>
        </a:solidFill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lgerian" panose="04020705040A02060702" pitchFamily="82" charset="0"/>
            </a:rPr>
            <a:t>WEATHER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</dsp:txBody>
      <dsp:txXfrm>
        <a:off x="29056" y="45853"/>
        <a:ext cx="1461462" cy="566042"/>
      </dsp:txXfrm>
    </dsp:sp>
    <dsp:sp modelId="{74CEE834-C587-43C2-8AEE-38CFAE7B8E22}">
      <dsp:nvSpPr>
        <dsp:cNvPr id="0" name=""/>
        <dsp:cNvSpPr/>
      </dsp:nvSpPr>
      <dsp:spPr>
        <a:xfrm>
          <a:off x="0" y="595762"/>
          <a:ext cx="5844519" cy="119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Temperature, Humidity, Rainfall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Free — No API key required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0" y="595762"/>
        <a:ext cx="5844519" cy="1190374"/>
      </dsp:txXfrm>
    </dsp:sp>
    <dsp:sp modelId="{07C8EECD-0AF6-49D0-AC01-2BAF1B9C2AAB}">
      <dsp:nvSpPr>
        <dsp:cNvPr id="0" name=""/>
        <dsp:cNvSpPr/>
      </dsp:nvSpPr>
      <dsp:spPr>
        <a:xfrm>
          <a:off x="1519574" y="1815891"/>
          <a:ext cx="4324944" cy="59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Soil Grids (FAO)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519574" y="1815891"/>
        <a:ext cx="4324944" cy="595098"/>
      </dsp:txXfrm>
    </dsp:sp>
    <dsp:sp modelId="{C2966D70-0646-4452-9146-992CD402A299}">
      <dsp:nvSpPr>
        <dsp:cNvPr id="0" name=""/>
        <dsp:cNvSpPr/>
      </dsp:nvSpPr>
      <dsp:spPr>
        <a:xfrm>
          <a:off x="0" y="1815891"/>
          <a:ext cx="1519574" cy="595098"/>
        </a:xfrm>
        <a:prstGeom prst="round2SameRect">
          <a:avLst>
            <a:gd name="adj1" fmla="val 16670"/>
            <a:gd name="adj2" fmla="val 0"/>
          </a:avLst>
        </a:prstGeom>
        <a:solidFill>
          <a:srgbClr val="789F69"/>
        </a:solidFill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lgerian" panose="04020705040A02060702" pitchFamily="82" charset="0"/>
            </a:rPr>
            <a:t>SOIL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29056" y="1844947"/>
        <a:ext cx="1461462" cy="566042"/>
      </dsp:txXfrm>
    </dsp:sp>
    <dsp:sp modelId="{CD29D447-7A5E-40FC-B275-03F78226C3F8}">
      <dsp:nvSpPr>
        <dsp:cNvPr id="0" name=""/>
        <dsp:cNvSpPr/>
      </dsp:nvSpPr>
      <dsp:spPr>
        <a:xfrm>
          <a:off x="0" y="2410989"/>
          <a:ext cx="5844519" cy="119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 </a:t>
          </a: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pH, Nitrogen, Phosphorus,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 Potassium — Global Coverage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0" y="2410989"/>
        <a:ext cx="5844519" cy="1190374"/>
      </dsp:txXfrm>
    </dsp:sp>
    <dsp:sp modelId="{E9712A4A-6246-4DFC-A872-E1E92184070E}">
      <dsp:nvSpPr>
        <dsp:cNvPr id="0" name=""/>
        <dsp:cNvSpPr/>
      </dsp:nvSpPr>
      <dsp:spPr>
        <a:xfrm>
          <a:off x="1519574" y="3631119"/>
          <a:ext cx="4324944" cy="59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NASA POWER API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519574" y="3631119"/>
        <a:ext cx="4324944" cy="595098"/>
      </dsp:txXfrm>
    </dsp:sp>
    <dsp:sp modelId="{769E45B7-8CCE-4CD6-86C2-7F76959B60BB}">
      <dsp:nvSpPr>
        <dsp:cNvPr id="0" name=""/>
        <dsp:cNvSpPr/>
      </dsp:nvSpPr>
      <dsp:spPr>
        <a:xfrm>
          <a:off x="0" y="3631119"/>
          <a:ext cx="1519574" cy="595098"/>
        </a:xfrm>
        <a:prstGeom prst="round2SameRect">
          <a:avLst>
            <a:gd name="adj1" fmla="val 16670"/>
            <a:gd name="adj2" fmla="val 0"/>
          </a:avLst>
        </a:prstGeom>
        <a:solidFill>
          <a:srgbClr val="789F69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lgerian" panose="04020705040A02060702" pitchFamily="82" charset="0"/>
            </a:rPr>
            <a:t>CLIMATE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29056" y="3660175"/>
        <a:ext cx="1461462" cy="566042"/>
      </dsp:txXfrm>
    </dsp:sp>
    <dsp:sp modelId="{1036CC8E-A650-45B0-978D-1A43884F28E8}">
      <dsp:nvSpPr>
        <dsp:cNvPr id="0" name=""/>
        <dsp:cNvSpPr/>
      </dsp:nvSpPr>
      <dsp:spPr>
        <a:xfrm>
          <a:off x="0" y="4226217"/>
          <a:ext cx="5844519" cy="119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Historical Climate Data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Free — No key required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0" y="4226217"/>
        <a:ext cx="5844519" cy="11903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E9D50-6CFF-4479-A0AF-BCC075933F16}">
      <dsp:nvSpPr>
        <dsp:cNvPr id="0" name=""/>
        <dsp:cNvSpPr/>
      </dsp:nvSpPr>
      <dsp:spPr>
        <a:xfrm>
          <a:off x="0" y="4226217"/>
          <a:ext cx="5879783" cy="0"/>
        </a:xfrm>
        <a:prstGeom prst="line">
          <a:avLst/>
        </a:prstGeom>
        <a:noFill/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02032-4CA6-4617-86C1-C42CEE2C5CAF}">
      <dsp:nvSpPr>
        <dsp:cNvPr id="0" name=""/>
        <dsp:cNvSpPr/>
      </dsp:nvSpPr>
      <dsp:spPr>
        <a:xfrm>
          <a:off x="0" y="2410989"/>
          <a:ext cx="5879783" cy="0"/>
        </a:xfrm>
        <a:prstGeom prst="line">
          <a:avLst/>
        </a:prstGeom>
        <a:noFill/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1E347-71CA-4293-AABD-D22968697903}">
      <dsp:nvSpPr>
        <dsp:cNvPr id="0" name=""/>
        <dsp:cNvSpPr/>
      </dsp:nvSpPr>
      <dsp:spPr>
        <a:xfrm>
          <a:off x="0" y="595762"/>
          <a:ext cx="5879783" cy="0"/>
        </a:xfrm>
        <a:prstGeom prst="line">
          <a:avLst/>
        </a:prstGeom>
        <a:noFill/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738FCC-740D-4533-A1B8-88C1FF528FA4}">
      <dsp:nvSpPr>
        <dsp:cNvPr id="0" name=""/>
        <dsp:cNvSpPr/>
      </dsp:nvSpPr>
      <dsp:spPr>
        <a:xfrm>
          <a:off x="1528743" y="664"/>
          <a:ext cx="4351039" cy="59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solidFill>
              <a:schemeClr val="accent4">
                <a:lumMod val="20000"/>
                <a:lumOff val="80000"/>
              </a:schemeClr>
            </a:solidFill>
            <a:latin typeface="Impact" panose="020B080603090205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Kaggle Dataset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</a:t>
          </a:r>
        </a:p>
      </dsp:txBody>
      <dsp:txXfrm>
        <a:off x="1528743" y="664"/>
        <a:ext cx="4351039" cy="595098"/>
      </dsp:txXfrm>
    </dsp:sp>
    <dsp:sp modelId="{D6930D74-0DAA-4B7D-B668-2CAFA38879A0}">
      <dsp:nvSpPr>
        <dsp:cNvPr id="0" name=""/>
        <dsp:cNvSpPr/>
      </dsp:nvSpPr>
      <dsp:spPr>
        <a:xfrm>
          <a:off x="0" y="664"/>
          <a:ext cx="1528743" cy="595098"/>
        </a:xfrm>
        <a:prstGeom prst="round2SameRect">
          <a:avLst>
            <a:gd name="adj1" fmla="val 16670"/>
            <a:gd name="adj2" fmla="val 0"/>
          </a:avLst>
        </a:prstGeom>
        <a:solidFill>
          <a:srgbClr val="789F69"/>
        </a:solidFill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lgerian" panose="04020705040A02060702" pitchFamily="82" charset="0"/>
            </a:rPr>
            <a:t>CROPS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</dsp:txBody>
      <dsp:txXfrm>
        <a:off x="29056" y="29720"/>
        <a:ext cx="1470631" cy="566042"/>
      </dsp:txXfrm>
    </dsp:sp>
    <dsp:sp modelId="{14B948A0-A1BA-48A6-A63A-2048F979CC6F}">
      <dsp:nvSpPr>
        <dsp:cNvPr id="0" name=""/>
        <dsp:cNvSpPr/>
      </dsp:nvSpPr>
      <dsp:spPr>
        <a:xfrm>
          <a:off x="0" y="595762"/>
          <a:ext cx="5879783" cy="119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2,200 labeled records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Crop Recommendation training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0" y="595762"/>
        <a:ext cx="5879783" cy="1190374"/>
      </dsp:txXfrm>
    </dsp:sp>
    <dsp:sp modelId="{8510C359-FB57-4406-980E-24CCD2624224}">
      <dsp:nvSpPr>
        <dsp:cNvPr id="0" name=""/>
        <dsp:cNvSpPr/>
      </dsp:nvSpPr>
      <dsp:spPr>
        <a:xfrm>
          <a:off x="1528743" y="1815891"/>
          <a:ext cx="4351039" cy="59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Research Refs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528743" y="1815891"/>
        <a:ext cx="4351039" cy="595098"/>
      </dsp:txXfrm>
    </dsp:sp>
    <dsp:sp modelId="{B640462F-94EE-4AB8-B02C-504DEA7F461B}">
      <dsp:nvSpPr>
        <dsp:cNvPr id="0" name=""/>
        <dsp:cNvSpPr/>
      </dsp:nvSpPr>
      <dsp:spPr>
        <a:xfrm>
          <a:off x="0" y="1815891"/>
          <a:ext cx="1528743" cy="595098"/>
        </a:xfrm>
        <a:prstGeom prst="round2SameRect">
          <a:avLst>
            <a:gd name="adj1" fmla="val 16670"/>
            <a:gd name="adj2" fmla="val 0"/>
          </a:avLst>
        </a:prstGeom>
        <a:solidFill>
          <a:srgbClr val="789F69"/>
        </a:solidFill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lgerian" panose="04020705040A02060702" pitchFamily="82" charset="0"/>
            </a:rPr>
            <a:t>PAPERS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29056" y="1844947"/>
        <a:ext cx="1470631" cy="566042"/>
      </dsp:txXfrm>
    </dsp:sp>
    <dsp:sp modelId="{73C71F81-CFFE-4DCA-82E0-43B1964FB3D9}">
      <dsp:nvSpPr>
        <dsp:cNvPr id="0" name=""/>
        <dsp:cNvSpPr/>
      </dsp:nvSpPr>
      <dsp:spPr>
        <a:xfrm>
          <a:off x="0" y="2410989"/>
          <a:ext cx="5879783" cy="119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Mohanty et al. (2016)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 Paliwal &amp; Upadhyay (2025)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0" y="2410989"/>
        <a:ext cx="5879783" cy="1190374"/>
      </dsp:txXfrm>
    </dsp:sp>
    <dsp:sp modelId="{936AA120-F125-400C-940D-5557F4983289}">
      <dsp:nvSpPr>
        <dsp:cNvPr id="0" name=""/>
        <dsp:cNvSpPr/>
      </dsp:nvSpPr>
      <dsp:spPr>
        <a:xfrm>
          <a:off x="1528743" y="3631119"/>
          <a:ext cx="4351039" cy="59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4">
                  <a:lumMod val="20000"/>
                  <a:lumOff val="80000"/>
                </a:schemeClr>
              </a:solidFill>
              <a:latin typeface="Impact" panose="020B0806030902050204" pitchFamily="34" charset="0"/>
            </a:rPr>
            <a:t> Plant Village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528743" y="3631119"/>
        <a:ext cx="4351039" cy="595098"/>
      </dsp:txXfrm>
    </dsp:sp>
    <dsp:sp modelId="{68A43926-D101-448F-A22B-91D3396BAE7F}">
      <dsp:nvSpPr>
        <dsp:cNvPr id="0" name=""/>
        <dsp:cNvSpPr/>
      </dsp:nvSpPr>
      <dsp:spPr>
        <a:xfrm>
          <a:off x="0" y="3631119"/>
          <a:ext cx="1528743" cy="595098"/>
        </a:xfrm>
        <a:prstGeom prst="round2SameRect">
          <a:avLst>
            <a:gd name="adj1" fmla="val 16670"/>
            <a:gd name="adj2" fmla="val 0"/>
          </a:avLst>
        </a:prstGeom>
        <a:solidFill>
          <a:srgbClr val="789F69"/>
        </a:solidFill>
        <a:ln w="12700" cap="flat" cmpd="sng" algn="ctr">
          <a:solidFill>
            <a:srgbClr val="789F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lgerian" panose="04020705040A02060702" pitchFamily="82" charset="0"/>
            </a:rPr>
            <a:t>DISEASE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29056" y="3660175"/>
        <a:ext cx="1470631" cy="566042"/>
      </dsp:txXfrm>
    </dsp:sp>
    <dsp:sp modelId="{BB52B197-E5C6-4B97-9E59-83690722F6DA}">
      <dsp:nvSpPr>
        <dsp:cNvPr id="0" name=""/>
        <dsp:cNvSpPr/>
      </dsp:nvSpPr>
      <dsp:spPr>
        <a:xfrm>
          <a:off x="0" y="4226217"/>
          <a:ext cx="5879783" cy="119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54,306 disease images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accent3">
                  <a:lumMod val="40000"/>
                  <a:lumOff val="60000"/>
                </a:schemeClr>
              </a:solidFill>
            </a:rPr>
            <a:t>CNN Model training 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0" y="4226217"/>
        <a:ext cx="5879783" cy="1190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346E9-28B8-44C4-BFD8-F1BD46A1121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985F3-CBAA-4C97-BDE3-1CD2BAB39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985F3-CBAA-4C97-BDE3-1CD2BAB39E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09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985F3-CBAA-4C97-BDE3-1CD2BAB39E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94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985F3-CBAA-4C97-BDE3-1CD2BAB39E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2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91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74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889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1" y="6239452"/>
            <a:ext cx="12188825" cy="639913"/>
          </a:xfrm>
          <a:prstGeom prst="rect">
            <a:avLst/>
          </a:prstGeom>
          <a:solidFill>
            <a:srgbClr val="1A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" y="6156249"/>
            <a:ext cx="4266089" cy="97511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0" y="671279"/>
            <a:ext cx="2681542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477" y="135015"/>
            <a:ext cx="9751060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7731" b="1" dirty="0">
                <a:solidFill>
                  <a:srgbClr val="FFFFFF"/>
                </a:solidFill>
                <a:latin typeface="Castellar" panose="020A0402060406010301" pitchFamily="18" charset="0"/>
                <a:ea typeface="Calibri" pitchFamily="34" charset="-122"/>
                <a:cs typeface="Calibri" pitchFamily="34" charset="-120"/>
              </a:rPr>
              <a:t>Nile Crop</a:t>
            </a:r>
            <a:endParaRPr lang="en-US" sz="7731" dirty="0">
              <a:solidFill>
                <a:prstClr val="black"/>
              </a:solidFill>
              <a:latin typeface="Castellar" panose="020A0402060406010301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441" y="2255826"/>
            <a:ext cx="8532178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773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5582" y="1115852"/>
            <a:ext cx="9141619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000" i="1" dirty="0">
                <a:solidFill>
                  <a:srgbClr val="D4E6D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AI-Powered Crop Recommendation &amp; Plant Disease Detection</a:t>
            </a:r>
            <a:endParaRPr lang="en-US" sz="2000" dirty="0">
              <a:solidFill>
                <a:prstClr val="black"/>
              </a:solidFill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441" y="6241571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333" i="1" dirty="0">
                <a:solidFill>
                  <a:srgbClr val="D4E6DE"/>
                </a:solidFill>
                <a:latin typeface="Brush Script MT" panose="03060802040406070304" pitchFamily="66" charset="0"/>
                <a:ea typeface="Calibri" pitchFamily="34" charset="-122"/>
                <a:cs typeface="Calibri" pitchFamily="34" charset="-120"/>
              </a:rPr>
              <a:t>Supervised by: DR/ Eman Salah Salem Ahmed</a:t>
            </a:r>
            <a:endParaRPr lang="en-US" sz="1333" dirty="0">
              <a:solidFill>
                <a:prstClr val="black"/>
              </a:solidFill>
              <a:latin typeface="Brush Script MT" panose="03060802040406070304" pitchFamily="66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7639E6E-EA1A-FBC3-288F-ECC514D86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09" y="3125153"/>
            <a:ext cx="2860559" cy="164157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4D2509FD-E545-4FAC-2A32-616E3AE5E95B}"/>
              </a:ext>
            </a:extLst>
          </p:cNvPr>
          <p:cNvSpPr/>
          <p:nvPr/>
        </p:nvSpPr>
        <p:spPr>
          <a:xfrm>
            <a:off x="542717" y="2217024"/>
            <a:ext cx="2403265" cy="1356227"/>
          </a:xfrm>
          <a:prstGeom prst="downArrowCallout">
            <a:avLst>
              <a:gd name="adj1" fmla="val 19139"/>
              <a:gd name="adj2" fmla="val 25000"/>
              <a:gd name="adj3" fmla="val 25000"/>
              <a:gd name="adj4" fmla="val 64977"/>
            </a:avLst>
          </a:prstGeom>
          <a:solidFill>
            <a:srgbClr val="789F6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BEF5DA2-75BE-48D1-62AF-1A5601CE7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550" y="2177936"/>
            <a:ext cx="2860559" cy="25517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9558B4F-03C2-B6FF-BEE4-A305FFCEA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098" y="2177936"/>
            <a:ext cx="2860559" cy="255174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DEDDE87-07BD-B03F-6CEE-D1A8A0E964D3}"/>
              </a:ext>
            </a:extLst>
          </p:cNvPr>
          <p:cNvSpPr/>
          <p:nvPr/>
        </p:nvSpPr>
        <p:spPr>
          <a:xfrm>
            <a:off x="4454723" y="2289577"/>
            <a:ext cx="2563308" cy="574227"/>
          </a:xfrm>
          <a:prstGeom prst="rect">
            <a:avLst/>
          </a:prstGeom>
          <a:noFill/>
        </p:spPr>
        <p:txBody>
          <a:bodyPr wrap="square" lIns="121888" tIns="60944" rIns="121888" bIns="60944">
            <a:spAutoFit/>
          </a:bodyPr>
          <a:lstStyle/>
          <a:p>
            <a:pPr algn="ctr" defTabSz="1218895"/>
            <a:r>
              <a:rPr lang="en-US" sz="1466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Model 01</a:t>
            </a:r>
          </a:p>
          <a:p>
            <a:pPr algn="ctr" defTabSz="1218895"/>
            <a:r>
              <a:rPr lang="en-US" sz="1466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(</a:t>
            </a:r>
            <a:r>
              <a:rPr lang="en-US" sz="1466" dirty="0">
                <a:ln w="0"/>
                <a:solidFill>
                  <a:srgbClr val="E7E6E6">
                    <a:lumMod val="9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Crop Recommendation</a:t>
            </a:r>
            <a:r>
              <a:rPr lang="en-US" sz="1466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FDA803-6707-6547-D453-F6257B18F8AD}"/>
              </a:ext>
            </a:extLst>
          </p:cNvPr>
          <p:cNvSpPr/>
          <p:nvPr/>
        </p:nvSpPr>
        <p:spPr>
          <a:xfrm>
            <a:off x="4725311" y="3453811"/>
            <a:ext cx="2136577" cy="984468"/>
          </a:xfrm>
          <a:prstGeom prst="rect">
            <a:avLst/>
          </a:prstGeom>
          <a:noFill/>
        </p:spPr>
        <p:txBody>
          <a:bodyPr wrap="square" lIns="121888" tIns="60944" rIns="121888" bIns="60944">
            <a:spAutoFit/>
          </a:bodyPr>
          <a:lstStyle/>
          <a:p>
            <a:pPr algn="ctr" defTabSz="1218895"/>
            <a:r>
              <a:rPr lang="en-US" sz="1866" dirty="0">
                <a:ln w="0"/>
                <a:solidFill>
                  <a:srgbClr val="FFC000">
                    <a:lumMod val="20000"/>
                    <a:lumOff val="8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Algorithm: Random Forest Accuracy: Up to 99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0A6F79-5451-7A66-5FEE-FF3F8E9837F2}"/>
              </a:ext>
            </a:extLst>
          </p:cNvPr>
          <p:cNvSpPr/>
          <p:nvPr/>
        </p:nvSpPr>
        <p:spPr>
          <a:xfrm>
            <a:off x="9060608" y="2254243"/>
            <a:ext cx="1350625" cy="553966"/>
          </a:xfrm>
          <a:prstGeom prst="rect">
            <a:avLst/>
          </a:prstGeom>
          <a:noFill/>
        </p:spPr>
        <p:txBody>
          <a:bodyPr wrap="none" lIns="121888" tIns="60944" rIns="121888" bIns="60944">
            <a:spAutoFit/>
          </a:bodyPr>
          <a:lstStyle/>
          <a:p>
            <a:pPr algn="ctr" defTabSz="1218895"/>
            <a:r>
              <a:rPr lang="en-US" sz="1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Model 02 </a:t>
            </a:r>
          </a:p>
          <a:p>
            <a:pPr algn="ctr" defTabSz="1218895"/>
            <a:r>
              <a:rPr lang="en-US" sz="1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(</a:t>
            </a:r>
            <a:r>
              <a:rPr lang="en-US" sz="1400" dirty="0">
                <a:ln w="0"/>
                <a:solidFill>
                  <a:srgbClr val="E7E6E6">
                    <a:lumMod val="9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Disease Detection</a:t>
            </a:r>
            <a:r>
              <a:rPr lang="en-US" sz="1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7399C2-9AE4-0A0B-E417-0F06E80FBA39}"/>
              </a:ext>
            </a:extLst>
          </p:cNvPr>
          <p:cNvSpPr/>
          <p:nvPr/>
        </p:nvSpPr>
        <p:spPr>
          <a:xfrm>
            <a:off x="8526774" y="3429918"/>
            <a:ext cx="2332191" cy="1107963"/>
          </a:xfrm>
          <a:prstGeom prst="rect">
            <a:avLst/>
          </a:prstGeom>
          <a:noFill/>
        </p:spPr>
        <p:txBody>
          <a:bodyPr wrap="square" lIns="121888" tIns="60944" rIns="121888" bIns="60944">
            <a:spAutoFit/>
          </a:bodyPr>
          <a:lstStyle/>
          <a:p>
            <a:pPr algn="ctr" defTabSz="1218895"/>
            <a:r>
              <a:rPr lang="en-US" sz="1600" dirty="0">
                <a:ln w="0"/>
                <a:solidFill>
                  <a:srgbClr val="FFC000">
                    <a:lumMod val="20000"/>
                    <a:lumOff val="8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Architecture: CNN (MobileNetV2)Dataset: Plant Village Accuracy: ~94–95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FF7563-FA3F-9C48-0D60-A14E99CA02E6}"/>
              </a:ext>
            </a:extLst>
          </p:cNvPr>
          <p:cNvSpPr/>
          <p:nvPr/>
        </p:nvSpPr>
        <p:spPr>
          <a:xfrm>
            <a:off x="954486" y="2234347"/>
            <a:ext cx="1554207" cy="697338"/>
          </a:xfrm>
          <a:prstGeom prst="rect">
            <a:avLst/>
          </a:prstGeom>
          <a:noFill/>
        </p:spPr>
        <p:txBody>
          <a:bodyPr wrap="none" lIns="121888" tIns="60944" rIns="121888" bIns="60944">
            <a:spAutoFit/>
          </a:bodyPr>
          <a:lstStyle/>
          <a:p>
            <a:pPr algn="ctr" defTabSz="1218895"/>
            <a:r>
              <a:rPr lang="en-US" sz="1866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(20%-40%)</a:t>
            </a:r>
          </a:p>
          <a:p>
            <a:pPr algn="ctr" defTabSz="1218895"/>
            <a:r>
              <a:rPr lang="en-US" sz="1866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1866" dirty="0">
                <a:ln w="0"/>
                <a:solidFill>
                  <a:srgbClr val="E7E6E6">
                    <a:lumMod val="9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gency FB" panose="020B0503020202020204" pitchFamily="34" charset="0"/>
              </a:rPr>
              <a:t>of crops are lost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C6A483-F072-85F0-89ED-FDFE27C279E7}"/>
              </a:ext>
            </a:extLst>
          </p:cNvPr>
          <p:cNvSpPr/>
          <p:nvPr/>
        </p:nvSpPr>
        <p:spPr>
          <a:xfrm>
            <a:off x="7152748" y="2730279"/>
            <a:ext cx="454547" cy="1230754"/>
          </a:xfrm>
          <a:prstGeom prst="rect">
            <a:avLst/>
          </a:prstGeom>
          <a:noFill/>
        </p:spPr>
        <p:txBody>
          <a:bodyPr wrap="none" lIns="121888" tIns="60944" rIns="121888" bIns="60944">
            <a:spAutoFit/>
          </a:bodyPr>
          <a:lstStyle/>
          <a:p>
            <a:pPr algn="ctr" defTabSz="1218895"/>
            <a:r>
              <a:rPr lang="en-US" sz="7198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A76E6A-FB7C-660C-A86A-D663E5689B72}"/>
              </a:ext>
            </a:extLst>
          </p:cNvPr>
          <p:cNvSpPr txBox="1"/>
          <p:nvPr/>
        </p:nvSpPr>
        <p:spPr>
          <a:xfrm>
            <a:off x="580831" y="3487399"/>
            <a:ext cx="24730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8895"/>
            <a:r>
              <a:rPr lang="en-US" sz="1600" dirty="0">
                <a:solidFill>
                  <a:srgbClr val="FFC000">
                    <a:lumMod val="20000"/>
                    <a:lumOff val="80000"/>
                  </a:srgb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"According to FAO reports, 20–40% of global crop production is lost annually."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28" grpId="0" animBg="1"/>
      <p:bldP spid="32" grpId="0"/>
      <p:bldP spid="34" grpId="0"/>
      <p:bldP spid="35" grpId="0"/>
      <p:bldP spid="36" grpId="0"/>
      <p:bldP spid="37" grpId="0"/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670385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" y="671278"/>
            <a:ext cx="12188825" cy="73133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553" y="98403"/>
            <a:ext cx="11213719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3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6352" y="6619425"/>
            <a:ext cx="12188825" cy="243777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664" y="6619425"/>
            <a:ext cx="8532178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7664" y="183725"/>
            <a:ext cx="146265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552" y="915055"/>
            <a:ext cx="3778536" cy="1828324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552" y="915055"/>
            <a:ext cx="146266" cy="1828324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329" y="1000377"/>
            <a:ext cx="341287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329" y="1341664"/>
            <a:ext cx="3412871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 Mohamed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Sayed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329" y="2012049"/>
            <a:ext cx="341287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333" dirty="0">
                <a:solidFill>
                  <a:srgbClr val="D4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4241391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329" y="2292392"/>
            <a:ext cx="341287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333" dirty="0">
                <a:solidFill>
                  <a:srgbClr val="D4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01001390299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552" y="2926211"/>
            <a:ext cx="3778536" cy="914162"/>
          </a:xfrm>
          <a:prstGeom prst="rect">
            <a:avLst/>
          </a:prstGeom>
          <a:solidFill>
            <a:srgbClr val="0E7C6B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552" y="2926211"/>
            <a:ext cx="146266" cy="914162"/>
          </a:xfrm>
          <a:prstGeom prst="rect">
            <a:avLst/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329" y="2999344"/>
            <a:ext cx="3412871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133" b="1" kern="0" spc="267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329" y="3267498"/>
            <a:ext cx="3412871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 Eman Salah Salem Ahmed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0809" y="915055"/>
            <a:ext cx="7191407" cy="560686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0809" y="915055"/>
            <a:ext cx="7191407" cy="60944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4585" y="915055"/>
            <a:ext cx="4875530" cy="56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68227" y="915055"/>
            <a:ext cx="2315877" cy="56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6339" y="1012565"/>
            <a:ext cx="0" cy="377854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0809" y="1475741"/>
            <a:ext cx="7191407" cy="49974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4585" y="1475741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 Mohamed EL Sayed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68227" y="1475741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4241391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46339" y="1536685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0809" y="1975483"/>
            <a:ext cx="7191407" cy="499742"/>
          </a:xfrm>
          <a:prstGeom prst="rect">
            <a:avLst/>
          </a:prstGeom>
          <a:solidFill>
            <a:srgbClr val="E8F8F0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4585" y="1975483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Hamdy Ahmed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568227" y="1975483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4241362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446339" y="2036427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0809" y="2475224"/>
            <a:ext cx="7191407" cy="49974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4585" y="2475224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Rofaida Islam Elsayed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68227" y="2475224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4241635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446339" y="2536168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0809" y="2974966"/>
            <a:ext cx="7191407" cy="499742"/>
          </a:xfrm>
          <a:prstGeom prst="rect">
            <a:avLst/>
          </a:prstGeom>
          <a:solidFill>
            <a:srgbClr val="E8F8F0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4585" y="2974966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Elsaed Mostafa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68227" y="2974966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4241309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46339" y="3035910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0809" y="3474708"/>
            <a:ext cx="7191407" cy="49974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4585" y="3474708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Ahmed Adel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568227" y="3474708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4241131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446339" y="3535652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0809" y="3974450"/>
            <a:ext cx="7191407" cy="499742"/>
          </a:xfrm>
          <a:prstGeom prst="rect">
            <a:avLst/>
          </a:prstGeom>
          <a:solidFill>
            <a:srgbClr val="E8F8F0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4585" y="3974450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Mohamed Sayed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568227" y="3974450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4241289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446339" y="4035394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0809" y="4474192"/>
            <a:ext cx="7191407" cy="49974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4585" y="4474192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Abdalla Elsaied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568227" y="4474192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4241527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46339" y="4535136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0809" y="4973933"/>
            <a:ext cx="7191407" cy="499742"/>
          </a:xfrm>
          <a:prstGeom prst="rect">
            <a:avLst/>
          </a:prstGeom>
          <a:solidFill>
            <a:srgbClr val="E8F8F0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4585" y="4973933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Adel Elbaz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568227" y="4973933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4241120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446339" y="5034877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0809" y="5473675"/>
            <a:ext cx="7191407" cy="49974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14585" y="5473675"/>
            <a:ext cx="4875530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Wael Abdel-Momen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568227" y="5473675"/>
            <a:ext cx="2315877" cy="49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4241341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446339" y="5534619"/>
            <a:ext cx="0" cy="377854"/>
          </a:xfrm>
          <a:prstGeom prst="line">
            <a:avLst/>
          </a:prstGeom>
          <a:noFill/>
          <a:ln w="6350">
            <a:solidFill>
              <a:srgbClr val="D4E6DE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  <p:bldP spid="32" grpId="0" animBg="1"/>
      <p:bldP spid="33" grpId="0" animBg="1"/>
      <p:bldP spid="36" grpId="0" animBg="1"/>
      <p:bldP spid="37" grpId="0" animBg="1"/>
      <p:bldP spid="40" grpId="0" animBg="1"/>
      <p:bldP spid="41" grpId="0" animBg="1"/>
      <p:bldP spid="44" grpId="0" animBg="1"/>
      <p:bldP spid="45" grpId="0" animBg="1"/>
      <p:bldP spid="48" grpId="0" animBg="1"/>
      <p:bldP spid="49" grpId="0" animBg="1"/>
      <p:bldP spid="52" grpId="0" animBg="1"/>
      <p:bldP spid="53" grpId="0" animBg="1"/>
      <p:bldP spid="56" grpId="0" animBg="1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 panose="020F0502020204030204"/>
              </a:rPr>
              <a:t>Project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B0C8B8"/>
                </a:solidFill>
                <a:latin typeface="Calibri" panose="020F0502020204030204"/>
              </a:rPr>
              <a:t>3 / 1</a:t>
            </a:r>
            <a:r>
              <a:rPr lang="en-US" sz="1400" b="0" i="0" dirty="0">
                <a:solidFill>
                  <a:srgbClr val="B0C8B8"/>
                </a:solidFill>
                <a:latin typeface="Calibri" panose="020F0502020204030204"/>
              </a:rPr>
              <a:t>2</a:t>
            </a:r>
            <a:endParaRPr sz="1400" b="0" i="0" dirty="0">
              <a:solidFill>
                <a:srgbClr val="B0C8B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861631"/>
            <a:ext cx="5303520" cy="292608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53035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345" y="944689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CC71"/>
                </a:solidFill>
                <a:latin typeface="Algerian" panose="04020705040A02060702" pitchFamily="82" charset="0"/>
              </a:rPr>
              <a:t>WHAT IS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065" y="12957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FFFFF"/>
                </a:solidFill>
                <a:latin typeface="Calibri" panose="020F0502020204030204"/>
              </a:rPr>
              <a:t>NileCrop</a:t>
            </a:r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 is a free, Arabic-first web application powered</a:t>
            </a:r>
          </a:p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by two AI models that help Egyptian farmers make</a:t>
            </a:r>
          </a:p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data-driven agricultural decisions —</a:t>
            </a:r>
          </a:p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without any hardware or sensors.</a:t>
            </a:r>
          </a:p>
          <a:p>
            <a:pPr algn="l"/>
            <a:endParaRPr sz="1300" b="0" i="0" dirty="0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sz="1300" b="0" i="0" dirty="0">
                <a:solidFill>
                  <a:srgbClr val="2ECC71"/>
                </a:solidFill>
                <a:latin typeface="Calibri" panose="020F0502020204030204"/>
              </a:rPr>
              <a:t>✔  A Progressive Web App (PWA)</a:t>
            </a:r>
          </a:p>
          <a:p>
            <a:pPr algn="l"/>
            <a:r>
              <a:rPr sz="1300" b="0" i="0" dirty="0">
                <a:solidFill>
                  <a:srgbClr val="2ECC71"/>
                </a:solidFill>
                <a:latin typeface="Calibri" panose="020F0502020204030204"/>
              </a:rPr>
              <a:t>✔  Designed for farmers in Egypt</a:t>
            </a:r>
          </a:p>
          <a:p>
            <a:pPr algn="l"/>
            <a:r>
              <a:rPr sz="1300" b="0" i="0" dirty="0">
                <a:solidFill>
                  <a:srgbClr val="2ECC71"/>
                </a:solidFill>
                <a:latin typeface="Calibri" panose="020F0502020204030204"/>
              </a:rPr>
              <a:t>✔  Key idea: Replace traditional guessing</a:t>
            </a:r>
          </a:p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      → Data-driven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005071"/>
            <a:ext cx="5303520" cy="228600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3977639"/>
            <a:ext cx="5303520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097178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CC71"/>
                </a:solidFill>
                <a:latin typeface="Algerian" panose="04020705040A02060702" pitchFamily="82" charset="0"/>
              </a:rPr>
              <a:t>How it works?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99418"/>
            <a:ext cx="292608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52685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85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Farmer enters city 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92610"/>
            <a:ext cx="292608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92004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2004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System auto-fetches climate &amp; soil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85802"/>
            <a:ext cx="292608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313234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1323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AI model processes data in real-time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78994"/>
            <a:ext cx="292608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706426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0642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Returns crop recommendation or disease diagnosis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868680"/>
            <a:ext cx="5806440" cy="265176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868680"/>
            <a:ext cx="58064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0" y="868680"/>
            <a:ext cx="91440" cy="2651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4110" y="913911"/>
            <a:ext cx="5349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Crop 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3716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Recommends the best crop for any location</a:t>
            </a:r>
          </a:p>
          <a:p>
            <a:pPr algn="l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using real climate data from Open-</a:t>
            </a:r>
            <a:r>
              <a:rPr sz="1300" b="0" i="0" dirty="0" err="1">
                <a:solidFill>
                  <a:srgbClr val="B0C8B8"/>
                </a:solidFill>
                <a:latin typeface="Calibri" panose="020F0502020204030204"/>
              </a:rPr>
              <a:t>Meteo</a:t>
            </a:r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 and soil</a:t>
            </a:r>
          </a:p>
          <a:p>
            <a:pPr algn="l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data from </a:t>
            </a:r>
            <a:r>
              <a:rPr sz="1300" b="0" i="0" dirty="0" err="1">
                <a:solidFill>
                  <a:srgbClr val="B0C8B8"/>
                </a:solidFill>
                <a:latin typeface="Calibri" panose="020F0502020204030204"/>
              </a:rPr>
              <a:t>SoilGrids</a:t>
            </a:r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 (FAO) — Random Forest model,</a:t>
            </a:r>
          </a:p>
          <a:p>
            <a:pPr algn="l"/>
            <a:r>
              <a:rPr sz="1300" b="1" i="0" dirty="0">
                <a:solidFill>
                  <a:srgbClr val="2ECC71"/>
                </a:solidFill>
                <a:latin typeface="Calibri" panose="020F0502020204030204"/>
              </a:rPr>
              <a:t>99.55% accuracy.</a:t>
            </a:r>
          </a:p>
          <a:p>
            <a:pPr algn="l"/>
            <a:endParaRPr sz="1300" b="1" i="0" dirty="0">
              <a:solidFill>
                <a:srgbClr val="2ECC71"/>
              </a:solidFill>
              <a:latin typeface="Calibri" panose="020F0502020204030204"/>
            </a:endParaRPr>
          </a:p>
          <a:p>
            <a:pPr algn="l"/>
            <a:r>
              <a:rPr sz="1200" b="0" i="1" dirty="0">
                <a:solidFill>
                  <a:srgbClr val="2ECC71"/>
                </a:solidFill>
                <a:latin typeface="Calibri" panose="020F0502020204030204"/>
              </a:rPr>
              <a:t>Key idea: Replace traditional guessing → data-driven decisions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749039"/>
            <a:ext cx="5806440" cy="251460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3749039"/>
            <a:ext cx="58064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35040" y="3749039"/>
            <a:ext cx="91440" cy="2514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8106" y="3816291"/>
            <a:ext cx="5349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Disease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5246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Farmer photographs a plant leaf — CNN model</a:t>
            </a:r>
          </a:p>
          <a:p>
            <a:pPr algn="l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(MobileNetV2) identifies the disease from 17 classes,</a:t>
            </a:r>
          </a:p>
          <a:p>
            <a:pPr algn="l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shows treatment and prevention steps.</a:t>
            </a:r>
          </a:p>
          <a:p>
            <a:pPr algn="l"/>
            <a:endParaRPr sz="1300" b="0" i="0" dirty="0">
              <a:solidFill>
                <a:srgbClr val="B0C8B8"/>
              </a:solidFill>
              <a:latin typeface="Calibri" panose="020F0502020204030204"/>
            </a:endParaRPr>
          </a:p>
          <a:p>
            <a:pPr algn="l"/>
            <a:r>
              <a:rPr sz="1300" b="1" i="0" dirty="0">
                <a:solidFill>
                  <a:srgbClr val="2ECC71"/>
                </a:solidFill>
                <a:latin typeface="Calibri" panose="020F0502020204030204"/>
              </a:rPr>
              <a:t>94% classification accuracy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 animBg="1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670385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" y="671278"/>
            <a:ext cx="12188825" cy="73133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553" y="98403"/>
            <a:ext cx="11213719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3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1" y="6613330"/>
            <a:ext cx="12188825" cy="243777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0501" y="6619425"/>
            <a:ext cx="146265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552" y="915055"/>
            <a:ext cx="3900424" cy="5484971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552" y="915055"/>
            <a:ext cx="3900424" cy="85322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552" y="1341663"/>
            <a:ext cx="3900424" cy="121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5599" b="1" dirty="0">
                <a:solidFill>
                  <a:srgbClr val="2ECC71"/>
                </a:solidFill>
                <a:latin typeface="Brush Script MT" panose="03060802040406070304" pitchFamily="66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5599" dirty="0">
              <a:solidFill>
                <a:prstClr val="black"/>
              </a:solidFill>
              <a:latin typeface="Brush Script MT" panose="03060802040406070304" pitchFamily="66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4558" y="2432563"/>
            <a:ext cx="3900424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733" dirty="0">
                <a:solidFill>
                  <a:srgbClr val="FFFFFF"/>
                </a:solidFill>
                <a:latin typeface="Bodoni MT Condensed" panose="02070606080606020203" pitchFamily="18" charset="0"/>
                <a:ea typeface="Calibri" pitchFamily="34" charset="-122"/>
                <a:cs typeface="Calibri" pitchFamily="34" charset="-120"/>
              </a:rPr>
              <a:t>of Egypt crops</a:t>
            </a:r>
            <a:endParaRPr lang="en-US" sz="1733" dirty="0">
              <a:solidFill>
                <a:prstClr val="black"/>
              </a:solidFill>
              <a:latin typeface="Bodoni MT Condensed" panose="02070606080606020203" pitchFamily="18" charset="0"/>
            </a:endParaRPr>
          </a:p>
          <a:p>
            <a:pPr algn="ctr" defTabSz="1218895"/>
            <a:r>
              <a:rPr lang="en-US" sz="1733" dirty="0">
                <a:solidFill>
                  <a:srgbClr val="FFFFFF"/>
                </a:solidFill>
                <a:latin typeface="Bodoni MT Condensed" panose="02070606080606020203" pitchFamily="18" charset="0"/>
                <a:ea typeface="Calibri" pitchFamily="34" charset="-122"/>
                <a:cs typeface="Calibri" pitchFamily="34" charset="-120"/>
              </a:rPr>
              <a:t>lost every year</a:t>
            </a:r>
            <a:endParaRPr lang="en-US" sz="1733" dirty="0">
              <a:solidFill>
                <a:prstClr val="black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75105" y="3474708"/>
            <a:ext cx="2925318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70385" y="3718485"/>
            <a:ext cx="268154" cy="26815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6049" y="3681918"/>
            <a:ext cx="3169095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D4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irrigation decisions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0385" y="4291359"/>
            <a:ext cx="268154" cy="26815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049" y="4254793"/>
            <a:ext cx="3169095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D4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fertilizer use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0385" y="4864234"/>
            <a:ext cx="268154" cy="26815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049" y="4827668"/>
            <a:ext cx="3169095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D4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disease detection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0385" y="5437109"/>
            <a:ext cx="268154" cy="26815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6049" y="5400542"/>
            <a:ext cx="3169095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D4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tools in Arabic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3641" y="951621"/>
            <a:ext cx="6947630" cy="1584547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3641" y="951621"/>
            <a:ext cx="121888" cy="1584547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7418" y="1317286"/>
            <a:ext cx="670385" cy="670385"/>
          </a:xfrm>
          <a:prstGeom prst="ellipse">
            <a:avLst/>
          </a:prstGeom>
          <a:solidFill>
            <a:srgbClr val="E8F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7418" y="1317286"/>
            <a:ext cx="67038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399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50635" y="1097887"/>
            <a:ext cx="5606860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866" b="1" dirty="0">
                <a:solidFill>
                  <a:srgbClr val="0D3B2E"/>
                </a:solidFill>
                <a:latin typeface="Bernard MT Condensed" panose="02050806060905020404" pitchFamily="18" charset="0"/>
                <a:ea typeface="Calibri" pitchFamily="34" charset="-122"/>
                <a:cs typeface="Calibri" pitchFamily="34" charset="-120"/>
              </a:rPr>
              <a:t>No Guidance</a:t>
            </a:r>
            <a:endParaRPr lang="en-US" sz="1866" dirty="0">
              <a:solidFill>
                <a:prstClr val="black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50635" y="1512307"/>
            <a:ext cx="560686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rely only on neighbors &amp; tradition — no scientific basis for crop decisions.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3642" y="2752520"/>
            <a:ext cx="6947630" cy="1584547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3641" y="2779945"/>
            <a:ext cx="121888" cy="1584547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97418" y="3145610"/>
            <a:ext cx="670385" cy="670385"/>
          </a:xfrm>
          <a:prstGeom prst="ellipse">
            <a:avLst/>
          </a:prstGeom>
          <a:solidFill>
            <a:srgbClr val="E8F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7418" y="3145610"/>
            <a:ext cx="67038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399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50635" y="2926211"/>
            <a:ext cx="5606860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866" b="1" dirty="0">
                <a:solidFill>
                  <a:srgbClr val="0D3B2E"/>
                </a:solidFill>
                <a:latin typeface="Bernard MT Condensed" panose="02050806060905020404" pitchFamily="18" charset="0"/>
                <a:ea typeface="Calibri" pitchFamily="34" charset="-122"/>
                <a:cs typeface="Calibri" pitchFamily="34" charset="-120"/>
              </a:rPr>
              <a:t>Late Diagnosis</a:t>
            </a:r>
            <a:endParaRPr lang="en-US" sz="1866" dirty="0">
              <a:solidFill>
                <a:prstClr val="black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50635" y="3340631"/>
            <a:ext cx="560686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spread before detected, causing massive losses each season.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13896" y="4614363"/>
            <a:ext cx="6947630" cy="1584547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3641" y="4608269"/>
            <a:ext cx="121888" cy="1584547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97418" y="4973934"/>
            <a:ext cx="670385" cy="670385"/>
          </a:xfrm>
          <a:prstGeom prst="ellipse">
            <a:avLst/>
          </a:prstGeom>
          <a:solidFill>
            <a:srgbClr val="E8F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7418" y="4973934"/>
            <a:ext cx="67038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399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50635" y="4754535"/>
            <a:ext cx="5606860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866" b="1" dirty="0">
                <a:solidFill>
                  <a:srgbClr val="0D3B2E"/>
                </a:solidFill>
                <a:latin typeface="Bernard MT Condensed" panose="02050806060905020404" pitchFamily="18" charset="0"/>
                <a:ea typeface="Calibri" pitchFamily="34" charset="-122"/>
                <a:cs typeface="Calibri" pitchFamily="34" charset="-120"/>
              </a:rPr>
              <a:t>Wasted Resources</a:t>
            </a:r>
            <a:endParaRPr lang="en-US" sz="1866" dirty="0">
              <a:solidFill>
                <a:prstClr val="black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50635" y="5168955"/>
            <a:ext cx="560686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Over-irrigation and excess fertilizers cost money and damage soil quality long-term.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0672E6-0956-48A3-B5C7-8632B828235A}"/>
              </a:ext>
            </a:extLst>
          </p:cNvPr>
          <p:cNvSpPr txBox="1"/>
          <p:nvPr/>
        </p:nvSpPr>
        <p:spPr>
          <a:xfrm>
            <a:off x="8901112" y="71882"/>
            <a:ext cx="2922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0C8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/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6" grpId="0" animBg="1"/>
      <p:bldP spid="18" grpId="0" animBg="1"/>
      <p:bldP spid="20" grpId="0" animBg="1"/>
      <p:bldP spid="24" grpId="0" animBg="1"/>
      <p:bldP spid="25" grpId="0" animBg="1"/>
      <p:bldP spid="26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185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 panose="020F0502020204030204"/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B0C8B8"/>
                </a:solidFill>
                <a:latin typeface="Calibri" panose="020F0502020204030204"/>
              </a:rPr>
              <a:t>5 / 1</a:t>
            </a:r>
            <a:r>
              <a:rPr lang="en-US" sz="1400" b="0" i="0" dirty="0">
                <a:solidFill>
                  <a:srgbClr val="B0C8B8"/>
                </a:solidFill>
                <a:latin typeface="Calibri" panose="020F0502020204030204"/>
              </a:rPr>
              <a:t>2</a:t>
            </a:r>
            <a:endParaRPr sz="1400" b="0" i="0" dirty="0">
              <a:solidFill>
                <a:srgbClr val="B0C8B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841248"/>
            <a:ext cx="11521440" cy="54864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841248"/>
            <a:ext cx="9144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ECC71"/>
                </a:solidFill>
                <a:latin typeface="Agency FB" panose="020B0503020202020204" pitchFamily="34" charset="0"/>
              </a:rPr>
              <a:t>One Platform.  Two AI Models.  Real Data.  100% Software — No Hardware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062" y="1623441"/>
            <a:ext cx="5486400" cy="484632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54864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554480"/>
            <a:ext cx="91440" cy="4846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704975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What is </a:t>
            </a:r>
            <a:r>
              <a:rPr sz="1700" b="1" i="0" dirty="0" err="1">
                <a:solidFill>
                  <a:srgbClr val="FFFFFF"/>
                </a:solidFill>
                <a:latin typeface="Algerian" panose="04020705040A02060702" pitchFamily="82" charset="0"/>
              </a:rPr>
              <a:t>NileCrop</a:t>
            </a:r>
            <a:r>
              <a:rPr sz="17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76272"/>
            <a:ext cx="5120640" cy="27432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551938"/>
            <a:ext cx="51206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NileCrop</a:t>
            </a:r>
            <a:r>
              <a:rPr sz="1400" b="0" i="0" dirty="0">
                <a:solidFill>
                  <a:srgbClr val="FFFFFF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 is a free, bilingual (Arabic + English) Progressive</a:t>
            </a:r>
          </a:p>
          <a:p>
            <a:pPr algn="l"/>
            <a:r>
              <a:rPr sz="1400" b="0" i="0" dirty="0">
                <a:solidFill>
                  <a:srgbClr val="FFFFFF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Web App that empowers Egyptian farmers to make smarter</a:t>
            </a:r>
          </a:p>
          <a:p>
            <a:pPr algn="l"/>
            <a:r>
              <a:rPr sz="1400" b="0" i="0" dirty="0">
                <a:solidFill>
                  <a:srgbClr val="FFFFFF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agricultural decisions — using real-time AI, not guesswork.</a:t>
            </a:r>
          </a:p>
          <a:p>
            <a:pPr algn="l"/>
            <a:endParaRPr sz="1400" b="0" i="0" dirty="0">
              <a:solidFill>
                <a:srgbClr val="FFFFFF"/>
              </a:solidFill>
              <a:latin typeface="Bookman Old Style" panose="02050604050505020204" pitchFamily="18" charset="0"/>
              <a:cs typeface="Andalus" panose="02020603050405020304" pitchFamily="18" charset="-78"/>
            </a:endParaRPr>
          </a:p>
          <a:p>
            <a:pPr algn="l"/>
            <a:r>
              <a:rPr sz="1400" b="1" i="0" dirty="0">
                <a:solidFill>
                  <a:srgbClr val="2ECC71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The farmer only needs to:</a:t>
            </a:r>
          </a:p>
          <a:p>
            <a:pPr algn="l"/>
            <a:endParaRPr sz="1400" b="1" i="0" dirty="0">
              <a:solidFill>
                <a:srgbClr val="2ECC71"/>
              </a:solidFill>
              <a:latin typeface="Bookman Old Style" panose="02050604050505020204" pitchFamily="18" charset="0"/>
              <a:cs typeface="Andalus" panose="02020603050405020304" pitchFamily="18" charset="-78"/>
            </a:endParaRPr>
          </a:p>
          <a:p>
            <a:pPr algn="l"/>
            <a:r>
              <a:rPr sz="1400" b="0" i="0" dirty="0">
                <a:solidFill>
                  <a:srgbClr val="FFFFFF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  🌾  Choose their city  →  Get crop recommendation</a:t>
            </a:r>
          </a:p>
          <a:p>
            <a:pPr algn="l"/>
            <a:r>
              <a:rPr sz="1400" b="0" i="0" dirty="0">
                <a:solidFill>
                  <a:srgbClr val="FFFFFF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  📷  Take a photo       →  Get disease diagnosis</a:t>
            </a:r>
          </a:p>
          <a:p>
            <a:pPr algn="l"/>
            <a:endParaRPr sz="1400" b="0" i="0" dirty="0">
              <a:solidFill>
                <a:srgbClr val="FFFFFF"/>
              </a:solidFill>
              <a:latin typeface="Bookman Old Style" panose="02050604050505020204" pitchFamily="18" charset="0"/>
              <a:cs typeface="Andalus" panose="02020603050405020304" pitchFamily="18" charset="-78"/>
            </a:endParaRPr>
          </a:p>
          <a:p>
            <a:pPr algn="l"/>
            <a:r>
              <a:rPr sz="1400" b="1" i="1" dirty="0">
                <a:solidFill>
                  <a:srgbClr val="2ECC71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Everything else is automatic.</a:t>
            </a:r>
          </a:p>
          <a:p>
            <a:pPr algn="l"/>
            <a:endParaRPr sz="1400" b="1" i="1" dirty="0">
              <a:solidFill>
                <a:srgbClr val="2ECC71"/>
              </a:solidFill>
              <a:latin typeface="Bookman Old Style" panose="02050604050505020204" pitchFamily="18" charset="0"/>
              <a:cs typeface="Andalus" panose="02020603050405020304" pitchFamily="18" charset="-78"/>
            </a:endParaRPr>
          </a:p>
          <a:p>
            <a:pPr algn="l"/>
            <a:r>
              <a:rPr sz="1400" b="1" i="0" dirty="0">
                <a:solidFill>
                  <a:srgbClr val="B0C8B8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Key Design Principle:</a:t>
            </a:r>
          </a:p>
          <a:p>
            <a:pPr algn="l"/>
            <a:r>
              <a:rPr sz="1400" b="0" i="1" dirty="0">
                <a:solidFill>
                  <a:srgbClr val="B0C8B8"/>
                </a:solidFill>
                <a:latin typeface="Bookman Old Style" panose="02050604050505020204" pitchFamily="18" charset="0"/>
                <a:cs typeface="Andalus" panose="02020603050405020304" pitchFamily="18" charset="-78"/>
              </a:rPr>
              <a:t>Replace traditional guessing with data-driven decisions.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9F2D26-B73E-A5FD-A6C5-71E17A22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11649"/>
            <a:ext cx="5334462" cy="18350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82841" y="2076456"/>
            <a:ext cx="52120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Bell MT" panose="02020503060305020303" pitchFamily="18" charset="0"/>
              </a:rPr>
              <a:t>Farmer selects city → System auto-fetches real-time</a:t>
            </a:r>
          </a:p>
          <a:p>
            <a:pPr algn="l"/>
            <a:r>
              <a:rPr sz="1300" b="0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Bell MT" panose="02020503060305020303" pitchFamily="18" charset="0"/>
              </a:rPr>
              <a:t>weather &amp; soil data → Random Forest model recommends</a:t>
            </a:r>
          </a:p>
          <a:p>
            <a:pPr algn="l"/>
            <a:r>
              <a:rPr sz="1300" b="0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Bell MT" panose="02020503060305020303" pitchFamily="18" charset="0"/>
              </a:rPr>
              <a:t>best crop + confidence %.</a:t>
            </a:r>
          </a:p>
          <a:p>
            <a:pPr algn="l"/>
            <a:r>
              <a:rPr sz="1300" b="1" i="0" dirty="0">
                <a:solidFill>
                  <a:srgbClr val="2ECC71"/>
                </a:solidFill>
                <a:latin typeface="Bell MT" panose="02020503060305020303" pitchFamily="18" charset="0"/>
              </a:rPr>
              <a:t>Accuracy: 99.55%</a:t>
            </a:r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CC9988BE-672F-4270-4241-435BCFEDBD07}"/>
              </a:ext>
            </a:extLst>
          </p:cNvPr>
          <p:cNvSpPr/>
          <p:nvPr/>
        </p:nvSpPr>
        <p:spPr>
          <a:xfrm>
            <a:off x="6681869" y="3951346"/>
            <a:ext cx="5046186" cy="1608925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3D78EA73-B6EA-78F5-A136-1C576A01BB85}"/>
              </a:ext>
            </a:extLst>
          </p:cNvPr>
          <p:cNvSpPr/>
          <p:nvPr/>
        </p:nvSpPr>
        <p:spPr>
          <a:xfrm>
            <a:off x="6620925" y="3951346"/>
            <a:ext cx="108520" cy="1608925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BF2CCADF-4171-C90D-1544-0163341B504B}"/>
              </a:ext>
            </a:extLst>
          </p:cNvPr>
          <p:cNvSpPr/>
          <p:nvPr/>
        </p:nvSpPr>
        <p:spPr>
          <a:xfrm>
            <a:off x="6864702" y="4341388"/>
            <a:ext cx="564304" cy="633819"/>
          </a:xfrm>
          <a:prstGeom prst="ellipse">
            <a:avLst/>
          </a:prstGeom>
          <a:solidFill>
            <a:srgbClr val="E8F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97497E15-2811-6277-7A8D-245BA97DADD8}"/>
              </a:ext>
            </a:extLst>
          </p:cNvPr>
          <p:cNvSpPr/>
          <p:nvPr/>
        </p:nvSpPr>
        <p:spPr>
          <a:xfrm>
            <a:off x="6864702" y="4341388"/>
            <a:ext cx="564304" cy="6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88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1" i="0" u="none" strike="noStrike" kern="0" cap="none" spc="0" normalizeH="0" baseline="0" noProof="0" dirty="0">
                <a:ln>
                  <a:noFill/>
                </a:ln>
                <a:solidFill>
                  <a:srgbClr val="1A6B4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🔬</a:t>
            </a:r>
            <a:endParaRPr kumimoji="0" lang="en-US" sz="2266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FF0E9760-F1B8-B2FD-EF57-A4281D705DC5}"/>
              </a:ext>
            </a:extLst>
          </p:cNvPr>
          <p:cNvSpPr/>
          <p:nvPr/>
        </p:nvSpPr>
        <p:spPr>
          <a:xfrm>
            <a:off x="7656976" y="4073234"/>
            <a:ext cx="3960984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733" b="1" dirty="0">
                <a:solidFill>
                  <a:srgbClr val="0D3B2E"/>
                </a:solidFill>
                <a:latin typeface="Eras Bold ITC" panose="020B0907030504020204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733" dirty="0">
              <a:solidFill>
                <a:prstClr val="black"/>
              </a:solidFill>
              <a:latin typeface="Eras Bold ITC" panose="020B0907030504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13209F-5878-8965-2904-8E50D044AED0}"/>
              </a:ext>
            </a:extLst>
          </p:cNvPr>
          <p:cNvSpPr txBox="1"/>
          <p:nvPr/>
        </p:nvSpPr>
        <p:spPr>
          <a:xfrm>
            <a:off x="7543930" y="4453799"/>
            <a:ext cx="52120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Bell MT" panose="02020503060305020303" pitchFamily="18" charset="0"/>
              </a:rPr>
              <a:t>Farmer photographs a plant leaf → CNN model</a:t>
            </a:r>
          </a:p>
          <a:p>
            <a:pPr algn="l"/>
            <a:r>
              <a:rPr sz="1300" b="0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Bell MT" panose="02020503060305020303" pitchFamily="18" charset="0"/>
              </a:rPr>
              <a:t>(MobileNetV2) analyzes image → Returns disease</a:t>
            </a:r>
          </a:p>
          <a:p>
            <a:pPr algn="l"/>
            <a:r>
              <a:rPr sz="1300" b="0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Bell MT" panose="02020503060305020303" pitchFamily="18" charset="0"/>
              </a:rPr>
              <a:t>name in Arabic + treatment instructions.</a:t>
            </a:r>
          </a:p>
          <a:p>
            <a:pPr algn="l"/>
            <a:r>
              <a:rPr sz="1300" b="1" i="0" dirty="0">
                <a:solidFill>
                  <a:srgbClr val="2ECC71"/>
                </a:solidFill>
                <a:latin typeface="Bell MT" panose="02020503060305020303" pitchFamily="18" charset="0"/>
              </a:rPr>
              <a:t>Accuracy: ~94%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/>
      <p:bldP spid="22" grpId="0"/>
      <p:bldP spid="38" grpId="0" animBg="1"/>
      <p:bldP spid="39" grpId="0" animBg="1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 panose="020F0502020204030204"/>
              </a:rPr>
              <a:t>System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B0C8B8"/>
                </a:solidFill>
                <a:latin typeface="Calibri" panose="020F0502020204030204"/>
              </a:rPr>
              <a:t>6 / 1</a:t>
            </a:r>
            <a:r>
              <a:rPr lang="en-US" sz="1400" b="0" i="0" dirty="0">
                <a:solidFill>
                  <a:srgbClr val="B0C8B8"/>
                </a:solidFill>
                <a:latin typeface="Calibri" panose="020F0502020204030204"/>
              </a:rPr>
              <a:t>2</a:t>
            </a:r>
            <a:endParaRPr sz="1400" b="0" i="0" dirty="0">
              <a:solidFill>
                <a:srgbClr val="B0C8B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71002" y="838569"/>
            <a:ext cx="2194560" cy="475488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71002" y="838569"/>
            <a:ext cx="2194560" cy="475488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3390" y="914400"/>
            <a:ext cx="219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ln>
                  <a:solidFill>
                    <a:srgbClr val="FFE9A3"/>
                  </a:solidFill>
                </a:ln>
                <a:solidFill>
                  <a:srgbClr val="FFE9A3"/>
                </a:solidFill>
                <a:latin typeface="Algerian" panose="04020705040A02060702" pitchFamily="82" charset="0"/>
              </a:rPr>
              <a:t>[ Farmer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1298448"/>
            <a:ext cx="5486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719072"/>
            <a:ext cx="66751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719072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63456" y="1719072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841248"/>
            <a:ext cx="2103120" cy="347472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86868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urlz MT" panose="04040404050702020202" pitchFamily="82" charset="0"/>
              </a:rPr>
              <a:t>Crop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65792" y="841248"/>
            <a:ext cx="2103120" cy="347472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65792" y="868680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urlz MT" panose="04040404050702020202" pitchFamily="82" charset="0"/>
              </a:rPr>
              <a:t>Disease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130552"/>
            <a:ext cx="2194560" cy="475488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737360" y="2130552"/>
            <a:ext cx="2194560" cy="475488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21945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Enter Location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7208" y="2606040"/>
            <a:ext cx="54864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37360" y="2862072"/>
            <a:ext cx="2194560" cy="475488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755648" y="2862072"/>
            <a:ext cx="2194560" cy="475488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4665" y="2923401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Fetch Weather &amp; Soil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07208" y="3337560"/>
            <a:ext cx="54864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737360" y="3593592"/>
            <a:ext cx="2194560" cy="475488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764665" y="3602736"/>
            <a:ext cx="2194560" cy="475488"/>
          </a:xfrm>
          <a:prstGeom prst="rect">
            <a:avLst/>
          </a:prstGeom>
          <a:solidFill>
            <a:srgbClr val="1E8A4A"/>
          </a:solidFill>
          <a:ln w="15240">
            <a:solidFill>
              <a:srgbClr val="1E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05940" y="36576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RF Model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7208" y="4069080"/>
            <a:ext cx="54864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737360" y="4325112"/>
            <a:ext cx="2194560" cy="530352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737360" y="4325112"/>
            <a:ext cx="2194560" cy="530352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05940" y="4370832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Best Crop + Confidence % 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130552"/>
            <a:ext cx="2194560" cy="475488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2130552"/>
            <a:ext cx="2194560" cy="475488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219456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Upload Image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99448" y="2606040"/>
            <a:ext cx="54864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2862072"/>
            <a:ext cx="2194560" cy="475488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29600" y="2862072"/>
            <a:ext cx="2194560" cy="475488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0" y="2926079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CNN — MobileNetV2 ]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99448" y="3337560"/>
            <a:ext cx="54864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0" y="3593592"/>
            <a:ext cx="2194560" cy="475488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29600" y="3593592"/>
            <a:ext cx="2194560" cy="475488"/>
          </a:xfrm>
          <a:prstGeom prst="rect">
            <a:avLst/>
          </a:prstGeom>
          <a:solidFill>
            <a:srgbClr val="1E8A4A"/>
          </a:solidFill>
          <a:ln w="15240">
            <a:solidFill>
              <a:srgbClr val="1E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0" y="36576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Classify Disease 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99448" y="4069080"/>
            <a:ext cx="54864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29600" y="4325112"/>
            <a:ext cx="2194560" cy="530352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229600" y="4325112"/>
            <a:ext cx="2194560" cy="530352"/>
          </a:xfrm>
          <a:prstGeom prst="rect">
            <a:avLst/>
          </a:prstGeom>
          <a:solidFill>
            <a:srgbClr val="2ECC71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0" y="438912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gency FB" panose="020B0503020202020204" pitchFamily="34" charset="0"/>
              </a:rPr>
              <a:t>[ Disease Result (AR) 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19049" y="2276856"/>
            <a:ext cx="3200400" cy="150876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14001" y="2278188"/>
            <a:ext cx="3200400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76495" y="2326751"/>
            <a:ext cx="1728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E8A4A"/>
                </a:solidFill>
                <a:latin typeface="Algerian" panose="04020705040A02060702" pitchFamily="82" charset="0"/>
              </a:rPr>
              <a:t>External APIs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9432" y="2648866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C8B8"/>
                </a:solidFill>
                <a:latin typeface="Berlin Sans FB Demi" panose="020E0802020502020306" pitchFamily="34" charset="0"/>
              </a:rPr>
              <a:t>Open-</a:t>
            </a:r>
            <a:r>
              <a:rPr sz="1600" b="0" i="0" dirty="0" err="1">
                <a:solidFill>
                  <a:srgbClr val="B0C8B8"/>
                </a:solidFill>
                <a:latin typeface="Berlin Sans FB Demi" panose="020E0802020502020306" pitchFamily="34" charset="0"/>
              </a:rPr>
              <a:t>Meteo</a:t>
            </a:r>
            <a:r>
              <a:rPr sz="1600" b="0" i="0" dirty="0">
                <a:solidFill>
                  <a:srgbClr val="B0C8B8"/>
                </a:solidFill>
                <a:latin typeface="Berlin Sans FB Demi" panose="020E0802020502020306" pitchFamily="34" charset="0"/>
              </a:rPr>
              <a:t> (Weather)</a:t>
            </a:r>
          </a:p>
          <a:p>
            <a:pPr algn="l"/>
            <a:r>
              <a:rPr sz="1600" b="0" i="0" dirty="0">
                <a:solidFill>
                  <a:srgbClr val="B0C8B8"/>
                </a:solidFill>
                <a:latin typeface="Berlin Sans FB Demi" panose="020E0802020502020306" pitchFamily="34" charset="0"/>
              </a:rPr>
              <a:t>Soil Grids — FAO (Soil)</a:t>
            </a:r>
          </a:p>
          <a:p>
            <a:pPr algn="l"/>
            <a:r>
              <a:rPr sz="1600" b="0" i="0" dirty="0">
                <a:solidFill>
                  <a:srgbClr val="B0C8B8"/>
                </a:solidFill>
                <a:latin typeface="Berlin Sans FB Demi" panose="020E0802020502020306" pitchFamily="34" charset="0"/>
              </a:rPr>
              <a:t>NASA POWER (Climate)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166360"/>
            <a:ext cx="6675120" cy="59436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743200" y="5166360"/>
            <a:ext cx="66751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43200" y="5285232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Brush Script MT" panose="03060802040406070304" pitchFamily="66" charset="0"/>
              </a:rPr>
              <a:t>Result delivered in Arabic + English  |  PWA — works on any mobile  |  No sensors required</a:t>
            </a:r>
          </a:p>
        </p:txBody>
      </p:sp>
      <p:pic>
        <p:nvPicPr>
          <p:cNvPr id="67" name="Graphic 66" descr="Back RTL">
            <a:extLst>
              <a:ext uri="{FF2B5EF4-FFF2-40B4-BE49-F238E27FC236}">
                <a16:creationId xmlns:a16="http://schemas.microsoft.com/office/drawing/2014/main" id="{152C699D-D01F-6960-607D-57E604D1C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4741" y="2721679"/>
            <a:ext cx="641287" cy="55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4" grpId="0" animBg="1"/>
      <p:bldP spid="25" grpId="0" animBg="1"/>
      <p:bldP spid="26" grpId="0"/>
      <p:bldP spid="27" grpId="0" animBg="1"/>
      <p:bldP spid="29" grpId="0" animBg="1"/>
      <p:bldP spid="30" grpId="0" animBg="1"/>
      <p:bldP spid="31" grpId="0"/>
      <p:bldP spid="32" grpId="0" animBg="1"/>
      <p:bldP spid="34" grpId="0" animBg="1"/>
      <p:bldP spid="35" grpId="0" animBg="1"/>
      <p:bldP spid="36" grpId="0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/>
      <p:bldP spid="45" grpId="0" animBg="1"/>
      <p:bldP spid="47" grpId="0" animBg="1"/>
      <p:bldP spid="48" grpId="0" animBg="1"/>
      <p:bldP spid="49" grpId="0"/>
      <p:bldP spid="50" grpId="0" animBg="1"/>
      <p:bldP spid="52" grpId="0" animBg="1"/>
      <p:bldP spid="53" grpId="0" animBg="1"/>
      <p:bldP spid="54" grpId="0"/>
      <p:bldP spid="55" grpId="0" animBg="1"/>
      <p:bldP spid="56" grpId="0" animBg="1"/>
      <p:bldP spid="57" grpId="0"/>
      <p:bldP spid="58" grpId="0"/>
      <p:bldP spid="63" grpId="0" animBg="1"/>
      <p:bldP spid="64" grpId="0" animBg="1"/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AI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B0C8B8"/>
                </a:solidFill>
                <a:latin typeface="Calibri" panose="020F0502020204030204"/>
              </a:rPr>
              <a:t>7 / 1</a:t>
            </a:r>
            <a:r>
              <a:rPr lang="en-US" sz="1400" b="0" i="0" dirty="0">
                <a:solidFill>
                  <a:srgbClr val="B0C8B8"/>
                </a:solidFill>
                <a:latin typeface="Calibri" panose="020F0502020204030204"/>
              </a:rPr>
              <a:t>2</a:t>
            </a:r>
            <a:endParaRPr sz="1400" b="0" i="0" dirty="0">
              <a:solidFill>
                <a:srgbClr val="B0C8B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577840" cy="548640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1005840" cy="54864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" y="1426464"/>
            <a:ext cx="960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2ECC71"/>
                </a:solidFill>
                <a:latin typeface="Forte" panose="03060902040502070203" pitchFamily="66" charset="0"/>
              </a:rPr>
              <a:t>MODEL</a:t>
            </a:r>
            <a:endParaRPr lang="en-US" b="1" i="0" dirty="0">
              <a:solidFill>
                <a:srgbClr val="2ECC71"/>
              </a:solidFill>
              <a:latin typeface="Forte" panose="03060902040502070203" pitchFamily="66" charset="0"/>
            </a:endParaRPr>
          </a:p>
          <a:p>
            <a:pPr algn="ctr"/>
            <a:r>
              <a:rPr lang="en-US" b="1" dirty="0">
                <a:solidFill>
                  <a:srgbClr val="2ECC71"/>
                </a:solidFill>
                <a:latin typeface="Forte" panose="03060902040502070203" pitchFamily="66" charset="0"/>
              </a:rPr>
              <a:t>1</a:t>
            </a:r>
            <a:endParaRPr b="1" i="0" dirty="0">
              <a:solidFill>
                <a:srgbClr val="2ECC71"/>
              </a:solidFill>
              <a:latin typeface="Forte" panose="03060902040502070203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96012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Crop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2ECC71"/>
                </a:solidFill>
                <a:latin typeface="Calibri" panose="020F0502020204030204"/>
              </a:rPr>
              <a:t>Random Forest 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1920240"/>
            <a:ext cx="4206240" cy="36576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08760" y="2057400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20482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2,200 labeled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715768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270662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7 features: N, P, K, Temp, Humidity, pH, Rainfall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374136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0" y="33649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21 Egyptian-suitable crops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032504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40233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 panose="020F0502020204030204"/>
              </a:rPr>
              <a:t>99.55% accuracy achieved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4690872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0" y="46817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Train / Test Split: 80% / 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868680"/>
            <a:ext cx="5532120" cy="5486400"/>
          </a:xfrm>
          <a:prstGeom prst="rect">
            <a:avLst/>
          </a:prstGeom>
          <a:solidFill>
            <a:srgbClr val="0A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868680"/>
            <a:ext cx="1005840" cy="5486400"/>
          </a:xfrm>
          <a:prstGeom prst="rect">
            <a:avLst/>
          </a:prstGeom>
          <a:solidFill>
            <a:srgbClr val="14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1554480"/>
            <a:ext cx="960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C000"/>
                </a:solidFill>
                <a:latin typeface="Forte" panose="03060902040502070203" pitchFamily="66" charset="0"/>
              </a:rPr>
              <a:t>MODEL</a:t>
            </a:r>
            <a:endParaRPr lang="en-US" b="1" i="0" dirty="0">
              <a:solidFill>
                <a:srgbClr val="FFC000"/>
              </a:solidFill>
              <a:latin typeface="Forte" panose="03060902040502070203" pitchFamily="66" charset="0"/>
            </a:endParaRPr>
          </a:p>
          <a:p>
            <a:pPr algn="ctr"/>
            <a:r>
              <a:rPr lang="en-US" b="1" dirty="0">
                <a:solidFill>
                  <a:srgbClr val="FFC000"/>
                </a:solidFill>
                <a:latin typeface="Forte" panose="03060902040502070203" pitchFamily="66" charset="0"/>
              </a:rPr>
              <a:t>2</a:t>
            </a:r>
            <a:endParaRPr b="1" i="0" dirty="0">
              <a:solidFill>
                <a:srgbClr val="FFC000"/>
              </a:solidFill>
              <a:latin typeface="Forte" panose="03060902040502070203" pitchFamily="66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98079" y="96012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Disease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CC71"/>
                </a:solidFill>
                <a:latin typeface="Calibri" panose="020F0502020204030204"/>
              </a:rPr>
              <a:t>CNN — MobileNetV2 (Transfer Learning)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1920240"/>
            <a:ext cx="4206240" cy="36576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98079" y="2057400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0" y="20482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 panose="020F0502020204030204"/>
              </a:rPr>
              <a:t>&lt; 10,000 training images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11796" y="2699956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27066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PlantVillage Dataset (subset)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3374136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33649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17 disease classes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032504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18120" y="40233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17 plant species covered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4690872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8120" y="46817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 panose="020F0502020204030204"/>
              </a:rPr>
              <a:t>94% classification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868680"/>
            <a:ext cx="5532120" cy="5486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5577840" cy="54864"/>
          </a:xfrm>
          <a:prstGeom prst="rect">
            <a:avLst/>
          </a:prstGeom>
          <a:solidFill>
            <a:srgbClr val="2ECC71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9" grpId="0"/>
      <p:bldP spid="31" grpId="0"/>
      <p:bldP spid="32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 panose="020F0502020204030204"/>
              </a:rPr>
              <a:t>Research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B0C8B8"/>
                </a:solidFill>
                <a:latin typeface="Calibri" panose="020F0502020204030204"/>
              </a:rPr>
              <a:t>8 / 1</a:t>
            </a:r>
            <a:r>
              <a:rPr lang="en-US" sz="1400" b="0" i="0" dirty="0">
                <a:solidFill>
                  <a:srgbClr val="B0C8B8"/>
                </a:solidFill>
                <a:latin typeface="Calibri" panose="020F0502020204030204"/>
              </a:rPr>
              <a:t>2</a:t>
            </a:r>
            <a:endParaRPr sz="1400" b="0" i="0" dirty="0">
              <a:solidFill>
                <a:srgbClr val="B0C8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822960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B0C8B8"/>
                </a:solidFill>
                <a:latin typeface="Bodoni MT" panose="02070603080606020203" pitchFamily="18" charset="0"/>
              </a:rPr>
              <a:t>Our project is built on peer-reviewed research from Frontiers in Plant Science &amp; Springer LNNS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1521440" cy="233172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115214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1005840" cy="2331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011680"/>
            <a:ext cx="960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0D2B1E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4630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 panose="020F0502020204030204"/>
              </a:rPr>
              <a:t>Frontiers in Plant Science  · 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828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Using Deep Learning for Image-Based Plant Disease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331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CC71"/>
                </a:solidFill>
                <a:latin typeface="Calibri" panose="020F0502020204030204"/>
              </a:rPr>
              <a:t>Mohanty, Hughes &amp; Salathé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697480"/>
            <a:ext cx="987552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Trained CNN on PlantVillage dataset (54,306 images, 26 diseases) — achieved F1 score 0.9934 (99.35% accuracy). Foundation of our Disease Detection module.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31920"/>
            <a:ext cx="11521440" cy="233172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11521440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1005840" cy="2331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4572000"/>
            <a:ext cx="960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0D2B1E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2336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ln>
                  <a:solidFill>
                    <a:srgbClr val="FFE9A3"/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Springer LNNS  · 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708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Crop and Fertilizer Recommendation System Using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73752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ln>
                  <a:solidFill>
                    <a:srgbClr val="FFE9A3"/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Paliwal &amp; Upadhyay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5239512"/>
            <a:ext cx="9875520" cy="274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C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532180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Benchmarked 4 ML algorithms. Random Forest achieved 99.99% accuracy for crop recommendation using N, P, K, temperature, humidity &amp; pH. Directly validates our Model 01.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 animBg="1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 panose="020F0502020204030204"/>
              </a:rPr>
              <a:t>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0C8B8"/>
                </a:solidFill>
                <a:latin typeface="Calibri" panose="020F0502020204030204"/>
              </a:rP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577840" cy="539496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5577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1005840" cy="539496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188720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2ECC71"/>
                </a:solidFill>
                <a:latin typeface="Brush Script MT" panose="03060802040406070304" pitchFamily="66" charset="0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554480"/>
            <a:ext cx="9601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2ECC71"/>
                </a:solidFill>
                <a:latin typeface="Brush Script MT" panose="03060802040406070304" pitchFamily="66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331720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8B8"/>
                </a:solidFill>
                <a:latin typeface="Brush Script MT" panose="03060802040406070304" pitchFamily="66" charset="0"/>
              </a:rPr>
              <a:t>CROP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960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Crop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417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CC71"/>
                </a:solidFill>
                <a:latin typeface="Calibri" panose="020F0502020204030204"/>
              </a:rPr>
              <a:t>Source: Kaggle  |  Used for: Model 01 (Random Forest)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1828800"/>
            <a:ext cx="4206240" cy="36576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1965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Original Dataset: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377440"/>
            <a:ext cx="201168" cy="201168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2377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2,200 rows  x  8 columns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2779776"/>
            <a:ext cx="201168" cy="201168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20240" y="27797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22 crop classes (100 samples each — balanced)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182112"/>
            <a:ext cx="201168" cy="201168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240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7 features: N, P, K, Temperature, Humidity, pH, Rainfall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3584448"/>
            <a:ext cx="201168" cy="201168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20240" y="3584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Label: Crop name (target variable)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069080"/>
            <a:ext cx="4206240" cy="36576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08760" y="4206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 panose="020F0502020204030204"/>
              </a:rPr>
              <a:t>After NileCrop Modification: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4617720"/>
            <a:ext cx="201168" cy="201168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20240" y="4617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 panose="020F0502020204030204"/>
              </a:rPr>
              <a:t>Removed 4 non-Egyptian crops (mungbean, coconut, jute, coffee)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5020056"/>
            <a:ext cx="201168" cy="201168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240" y="50200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Added 4 Egyptian crops (wheat, potato, soybean, strawberry)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422392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20240" y="54223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 panose="020F0502020204030204"/>
              </a:rPr>
              <a:t>Final: 21 Egyptian-suitable crop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868680"/>
            <a:ext cx="5532120" cy="5394960"/>
          </a:xfrm>
          <a:prstGeom prst="rect">
            <a:avLst/>
          </a:prstGeom>
          <a:solidFill>
            <a:srgbClr val="0A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868680"/>
            <a:ext cx="1005840" cy="5394960"/>
          </a:xfrm>
          <a:prstGeom prst="rect">
            <a:avLst/>
          </a:prstGeom>
          <a:solidFill>
            <a:srgbClr val="14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6792" y="1188720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latin typeface="Brush Script MT" panose="03060802040406070304" pitchFamily="66" charset="0"/>
              </a:rPr>
              <a:t>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1554480"/>
            <a:ext cx="9601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ln>
                  <a:solidFill>
                    <a:srgbClr val="FFE9A3"/>
                  </a:solidFill>
                </a:ln>
                <a:solidFill>
                  <a:srgbClr val="FFC000"/>
                </a:solidFill>
                <a:latin typeface="Brush Script MT" panose="03060802040406070304" pitchFamily="66" charset="0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331720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latin typeface="Brush Script MT" panose="03060802040406070304" pitchFamily="66" charset="0"/>
              </a:rPr>
              <a:t>DISEASE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960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PlantVillage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1417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CC71"/>
                </a:solidFill>
                <a:latin typeface="Calibri" panose="020F0502020204030204"/>
              </a:rPr>
              <a:t>Source: Kaggle / Mendeley  |  Used for: Model 02 (MobileNetV2)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1828800"/>
            <a:ext cx="4206240" cy="36576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79" y="1965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Original Dataset: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377440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rgbClr val="FFE9A3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9560" y="2377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B8"/>
                </a:solidFill>
                <a:latin typeface="Calibri" panose="020F0502020204030204"/>
              </a:rPr>
              <a:t>54,306 images  (healthy + diseased)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2779776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09560" y="27797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B8"/>
                </a:solidFill>
                <a:latin typeface="Calibri" panose="020F0502020204030204"/>
              </a:rPr>
              <a:t>14 crop species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3182112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09560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B8"/>
                </a:solidFill>
                <a:latin typeface="Calibri" panose="020F0502020204030204"/>
              </a:rPr>
              <a:t>26 diseases  -&gt;  38 total classes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3584448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09560" y="3584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 panose="020F0502020204030204"/>
              </a:rPr>
              <a:t>Healthy images included per species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3986784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09560" y="39867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B8"/>
                </a:solidFill>
                <a:latin typeface="Calibri" panose="020F0502020204030204"/>
              </a:rPr>
              <a:t>Controlled background, high quality RGB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4407408"/>
            <a:ext cx="4206240" cy="36576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79" y="4544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 panose="020F0502020204030204"/>
              </a:rPr>
              <a:t>NileCrop Subset: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1029" y="4956048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09560" y="49560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 panose="020F0502020204030204"/>
              </a:rPr>
              <a:t>&lt; 10,000 images — CPU-friendly subset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5358384"/>
            <a:ext cx="201168" cy="20116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09560" y="53583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 panose="020F0502020204030204"/>
              </a:rPr>
              <a:t>17 disease classes (matching our crops)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5760720"/>
            <a:ext cx="201168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09560" y="5760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Balanced: diseased + healthy per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868680"/>
            <a:ext cx="55321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670385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" y="671278"/>
            <a:ext cx="12188825" cy="73133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553" y="98403"/>
            <a:ext cx="11213719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3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APIs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1" y="6613330"/>
            <a:ext cx="12188825" cy="243777"/>
          </a:xfrm>
          <a:prstGeom prst="rect">
            <a:avLst/>
          </a:prstGeom>
          <a:solidFill>
            <a:srgbClr val="0D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664" y="6619425"/>
            <a:ext cx="8532178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360501" y="6619425"/>
            <a:ext cx="146265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17028" y="3221790"/>
            <a:ext cx="3108150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7946BA83-B5C2-922D-2926-D986D99C420E}"/>
              </a:ext>
            </a:extLst>
          </p:cNvPr>
          <p:cNvGraphicFramePr/>
          <p:nvPr/>
        </p:nvGraphicFramePr>
        <p:xfrm>
          <a:off x="66179" y="990018"/>
          <a:ext cx="5844519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BA7F04F5-394A-61A2-43E5-548B0B50EC7E}"/>
              </a:ext>
            </a:extLst>
          </p:cNvPr>
          <p:cNvGraphicFramePr/>
          <p:nvPr/>
        </p:nvGraphicFramePr>
        <p:xfrm>
          <a:off x="6094412" y="1019342"/>
          <a:ext cx="58797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44" grpId="0">
        <p:bldAsOne/>
      </p:bldGraphic>
      <p:bldGraphic spid="4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7315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685800"/>
            <a:ext cx="4873752" cy="54864"/>
          </a:xfrm>
          <a:prstGeom prst="rect">
            <a:avLst/>
          </a:prstGeom>
          <a:solidFill>
            <a:srgbClr val="1E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 panose="020F0502020204030204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6563" y="196596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B0C8B8"/>
                </a:solidFill>
                <a:latin typeface="Calibri" panose="020F0502020204030204"/>
              </a:rPr>
              <a:t>11 / 1</a:t>
            </a:r>
            <a:r>
              <a:rPr lang="en-US" sz="1400" b="0" i="0" dirty="0">
                <a:solidFill>
                  <a:srgbClr val="B0C8B8"/>
                </a:solidFill>
                <a:latin typeface="Calibri" panose="020F0502020204030204"/>
              </a:rPr>
              <a:t>2</a:t>
            </a:r>
            <a:endParaRPr sz="1400" b="0" i="0" dirty="0">
              <a:solidFill>
                <a:srgbClr val="B0C8B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9393" y="902778"/>
            <a:ext cx="2194560" cy="5486400"/>
          </a:xfrm>
          <a:prstGeom prst="rect">
            <a:avLst/>
          </a:prstGeom>
          <a:solidFill>
            <a:srgbClr val="20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393" y="902778"/>
            <a:ext cx="21945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393" y="994218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ECC71"/>
                </a:solidFill>
                <a:latin typeface="Algerian" panose="04020705040A02060702" pitchFamily="82" charset="0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32" y="1497138"/>
            <a:ext cx="2011679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553" y="1680018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553" y="1680018"/>
            <a:ext cx="19202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7993" y="184461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React.js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553" y="2777298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553" y="2777298"/>
            <a:ext cx="19202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993" y="294189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Tailwind 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553" y="3874578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553" y="3874578"/>
            <a:ext cx="19202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993" y="403916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Chart.js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553" y="4971857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6553" y="4971857"/>
            <a:ext cx="19202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7993" y="513644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PWA (Mobile)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346" y="906208"/>
            <a:ext cx="2194560" cy="5486400"/>
          </a:xfrm>
          <a:prstGeom prst="rect">
            <a:avLst/>
          </a:prstGeom>
          <a:solidFill>
            <a:srgbClr val="FFE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33346" y="906208"/>
            <a:ext cx="2194560" cy="54864"/>
          </a:xfrm>
          <a:prstGeom prst="rect">
            <a:avLst/>
          </a:prstGeom>
          <a:solidFill>
            <a:srgbClr val="FFD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33346" y="997648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D2A000"/>
                </a:solidFill>
                <a:latin typeface="Algerian" panose="04020705040A02060702" pitchFamily="82" charset="0"/>
              </a:rPr>
              <a:t>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24786" y="1500568"/>
            <a:ext cx="2011679" cy="27432"/>
          </a:xfrm>
          <a:prstGeom prst="rect">
            <a:avLst/>
          </a:prstGeom>
          <a:solidFill>
            <a:srgbClr val="FFD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70506" y="1683448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70506" y="1683448"/>
            <a:ext cx="1920240" cy="54864"/>
          </a:xfrm>
          <a:prstGeom prst="rect">
            <a:avLst/>
          </a:prstGeom>
          <a:solidFill>
            <a:srgbClr val="FFD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61946" y="1848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Python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0506" y="2780728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70506" y="2780728"/>
            <a:ext cx="1920240" cy="54864"/>
          </a:xfrm>
          <a:prstGeom prst="rect">
            <a:avLst/>
          </a:prstGeom>
          <a:solidFill>
            <a:srgbClr val="FFD653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61946" y="2945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FastAPI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0506" y="3878008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70506" y="3878008"/>
            <a:ext cx="1920240" cy="54864"/>
          </a:xfrm>
          <a:prstGeom prst="rect">
            <a:avLst/>
          </a:prstGeom>
          <a:solidFill>
            <a:srgbClr val="FFD653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61946" y="404259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REST APIs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506" y="4975287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70506" y="4975287"/>
            <a:ext cx="1920240" cy="54864"/>
          </a:xfrm>
          <a:prstGeom prst="rect">
            <a:avLst/>
          </a:prstGeom>
          <a:solidFill>
            <a:srgbClr val="FFD653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61946" y="513987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JWT 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914400"/>
            <a:ext cx="2194560" cy="54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74920" y="914400"/>
            <a:ext cx="2194560" cy="54864"/>
          </a:xfrm>
          <a:prstGeom prst="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74920" y="100584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3A1A5C"/>
                </a:solidFill>
                <a:latin typeface="Algerian" panose="04020705040A02060702" pitchFamily="82" charset="0"/>
              </a:rPr>
              <a:t>AI /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59" y="1508760"/>
            <a:ext cx="2011679" cy="27432"/>
          </a:xfrm>
          <a:prstGeom prst="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212080" y="169164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212080" y="1691640"/>
            <a:ext cx="1920240" cy="54864"/>
          </a:xfrm>
          <a:prstGeom prst="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0" y="18562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Scikit-learn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278892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12080" y="2788920"/>
            <a:ext cx="1920240" cy="54864"/>
          </a:xfrm>
          <a:prstGeom prst="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03520" y="29535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TensorFlow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388620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212080" y="3886200"/>
            <a:ext cx="1920240" cy="54864"/>
          </a:xfrm>
          <a:prstGeom prst="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0" y="405079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OpenCV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4983479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212080" y="4983479"/>
            <a:ext cx="1920240" cy="54864"/>
          </a:xfrm>
          <a:prstGeom prst="rect">
            <a:avLst/>
          </a:prstGeom>
          <a:solidFill>
            <a:srgbClr val="3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0" y="514807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MobileNetV2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2194560" cy="5486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452360" y="914400"/>
            <a:ext cx="2194560" cy="54864"/>
          </a:xfrm>
          <a:prstGeom prst="rect">
            <a:avLst/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52360" y="100584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7A2E0E"/>
                </a:solidFill>
                <a:latin typeface="Algerian" panose="04020705040A02060702" pitchFamily="82" charset="0"/>
              </a:rPr>
              <a:t>DATABASE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1508760"/>
            <a:ext cx="2011679" cy="27432"/>
          </a:xfrm>
          <a:prstGeom prst="rect">
            <a:avLst/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589520" y="169164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89520" y="1691640"/>
            <a:ext cx="1920240" cy="54864"/>
          </a:xfrm>
          <a:prstGeom prst="rect">
            <a:avLst/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680960" y="18562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PostgreSQL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278892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589520" y="2788920"/>
            <a:ext cx="1920240" cy="54864"/>
          </a:xfrm>
          <a:prstGeom prst="rect">
            <a:avLst/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80960" y="29535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Cities Table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388620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589520" y="3886200"/>
            <a:ext cx="1920240" cy="54864"/>
          </a:xfrm>
          <a:prstGeom prst="rect">
            <a:avLst/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80960" y="405079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Request Logs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0" y="4983479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589520" y="4983479"/>
            <a:ext cx="1920240" cy="54864"/>
          </a:xfrm>
          <a:prstGeom prst="rect">
            <a:avLst/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680960" y="514807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29800" y="914400"/>
            <a:ext cx="2194560" cy="5486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829800" y="914400"/>
            <a:ext cx="219456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774872" y="997648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1A3A5C"/>
                </a:solidFill>
                <a:latin typeface="Algerian" panose="04020705040A02060702" pitchFamily="82" charset="0"/>
              </a:rPr>
              <a:t>DEVOPS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21240" y="1508760"/>
            <a:ext cx="2011679" cy="274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966960" y="169164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966960" y="1691640"/>
            <a:ext cx="192024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058400" y="18562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Git / GitHub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66960" y="278892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66960" y="2788920"/>
            <a:ext cx="192024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058400" y="29535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Vercel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66960" y="3886200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966960" y="3886200"/>
            <a:ext cx="192024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058400" y="405079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Render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66960" y="4983479"/>
            <a:ext cx="1920240" cy="82296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966960" y="4983479"/>
            <a:ext cx="192024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58400" y="514807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Postman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/>
      <p:bldP spid="34" grpId="0" animBg="1"/>
      <p:bldP spid="35" grpId="0" animBg="1"/>
      <p:bldP spid="36" grpId="0"/>
      <p:bldP spid="37" grpId="0" animBg="1"/>
      <p:bldP spid="38" grpId="0" animBg="1"/>
      <p:bldP spid="39" grpId="0"/>
      <p:bldP spid="40" grpId="0" animBg="1"/>
      <p:bldP spid="41" grpId="0" animBg="1"/>
      <p:bldP spid="42" grpId="0"/>
      <p:bldP spid="43" grpId="0" animBg="1"/>
      <p:bldP spid="44" grpId="0" animBg="1"/>
      <p:bldP spid="45" grpId="0" animBg="1"/>
      <p:bldP spid="46" grpId="0"/>
      <p:bldP spid="47" grpId="0" animBg="1"/>
      <p:bldP spid="48" grpId="0" animBg="1"/>
      <p:bldP spid="49" grpId="0"/>
      <p:bldP spid="50" grpId="0" animBg="1"/>
      <p:bldP spid="51" grpId="0" animBg="1"/>
      <p:bldP spid="52" grpId="0"/>
      <p:bldP spid="53" grpId="0" animBg="1"/>
      <p:bldP spid="54" grpId="0" animBg="1"/>
      <p:bldP spid="55" grpId="0"/>
      <p:bldP spid="56" grpId="0" animBg="1"/>
      <p:bldP spid="57" grpId="0" animBg="1"/>
      <p:bldP spid="58" grpId="0"/>
      <p:bldP spid="59" grpId="0" animBg="1"/>
      <p:bldP spid="60" grpId="0" animBg="1"/>
      <p:bldP spid="61" grpId="0" animBg="1"/>
      <p:bldP spid="62" grpId="0"/>
      <p:bldP spid="63" grpId="0" animBg="1"/>
      <p:bldP spid="64" grpId="0" animBg="1"/>
      <p:bldP spid="65" grpId="0"/>
      <p:bldP spid="66" grpId="0" animBg="1"/>
      <p:bldP spid="67" grpId="0" animBg="1"/>
      <p:bldP spid="68" grpId="0"/>
      <p:bldP spid="69" grpId="0" animBg="1"/>
      <p:bldP spid="70" grpId="0" animBg="1"/>
      <p:bldP spid="71" grpId="0"/>
      <p:bldP spid="72" grpId="0" animBg="1"/>
      <p:bldP spid="73" grpId="0" animBg="1"/>
      <p:bldP spid="74" grpId="0"/>
      <p:bldP spid="75" grpId="0" animBg="1"/>
      <p:bldP spid="76" grpId="0" animBg="1"/>
      <p:bldP spid="77" grpId="0" animBg="1"/>
      <p:bldP spid="78" grpId="0"/>
      <p:bldP spid="79" grpId="0" animBg="1"/>
      <p:bldP spid="80" grpId="0" animBg="1"/>
      <p:bldP spid="81" grpId="0"/>
      <p:bldP spid="82" grpId="0" animBg="1"/>
      <p:bldP spid="83" grpId="0" animBg="1"/>
      <p:bldP spid="84" grpId="0"/>
      <p:bldP spid="85" grpId="0" animBg="1"/>
      <p:bldP spid="86" grpId="0" animBg="1"/>
      <p:bldP spid="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 panose="020F0502020204030204"/>
              </a:rPr>
              <a:t>Why NileCrop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" y="1691640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 dirty="0">
                <a:solidFill>
                  <a:srgbClr val="2ECC71"/>
                </a:solidFill>
                <a:latin typeface="Calibri" panose="020F0502020204030204"/>
              </a:rPr>
              <a:t>Stands Out</a:t>
            </a:r>
            <a:r>
              <a:rPr lang="en-US" sz="5600" b="1" i="0" dirty="0">
                <a:solidFill>
                  <a:srgbClr val="2ECC71"/>
                </a:solidFill>
                <a:latin typeface="Calibri" panose="020F0502020204030204"/>
              </a:rPr>
              <a:t>🤔</a:t>
            </a:r>
            <a:endParaRPr sz="5600" b="1" i="0" dirty="0">
              <a:solidFill>
                <a:srgbClr val="2ECC71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3108960"/>
            <a:ext cx="3566160" cy="292608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310896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C000"/>
                </a:solidFill>
                <a:latin typeface="Brush Script MT" panose="03060802040406070304" pitchFamily="66" charset="0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Real Data, Not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B0C8B8"/>
                </a:solidFill>
                <a:latin typeface="Calibri" panose="020F0502020204030204"/>
              </a:rPr>
              <a:t>Live climate &amp; soil from FAO and NASA APIs — not fake test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108960"/>
            <a:ext cx="3566160" cy="292608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310896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2461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C000"/>
                </a:solidFill>
                <a:latin typeface="Brush Script MT" panose="03060802040406070304" pitchFamily="66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425196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Dual AI Syste</a:t>
            </a:r>
            <a:r>
              <a:rPr sz="1600" b="1" i="0" dirty="0">
                <a:solidFill>
                  <a:srgbClr val="FFFFFF"/>
                </a:solidFill>
                <a:latin typeface="Calibri" panose="020F0502020204030204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846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Two specialized models: crop recommendation + image disease detection.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108960"/>
            <a:ext cx="3566160" cy="2926080"/>
          </a:xfrm>
          <a:prstGeom prst="rect">
            <a:avLst/>
          </a:prstGeom>
          <a:solidFill>
            <a:srgbClr val="14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310896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2461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C000"/>
                </a:solidFill>
                <a:latin typeface="Brush Script MT" panose="03060802040406070304" pitchFamily="66" charset="0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11480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425196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lgerian" panose="04020705040A02060702" pitchFamily="82" charset="0"/>
              </a:rPr>
              <a:t>Built for Egypt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46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B8"/>
                </a:solidFill>
                <a:latin typeface="Calibri" panose="020F0502020204030204"/>
              </a:rPr>
              <a:t>Arabic UI, free to use, works on any mobile — designed for real farmers.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F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5029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336792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FFC000"/>
                </a:solidFill>
                <a:latin typeface="Engravers MT" panose="02090707080505020304" pitchFamily="18" charset="0"/>
              </a:rPr>
              <a:t>NileCrop</a:t>
            </a:r>
            <a:r>
              <a:rPr sz="1400" b="0" i="0" dirty="0">
                <a:solidFill>
                  <a:srgbClr val="FFC000"/>
                </a:solidFill>
                <a:latin typeface="Engravers MT" panose="02090707080505020304" pitchFamily="18" charset="0"/>
              </a:rPr>
              <a:t>  |  AI + Real Data + Arabic UX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DCA2EA-DC21-2229-DF19-6A6E25C1F0D1}"/>
              </a:ext>
            </a:extLst>
          </p:cNvPr>
          <p:cNvSpPr txBox="1"/>
          <p:nvPr/>
        </p:nvSpPr>
        <p:spPr>
          <a:xfrm>
            <a:off x="5854303" y="57983"/>
            <a:ext cx="613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0C8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 animBg="1"/>
      <p:bldP spid="21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59A3C-24B2-6ADA-CF37-829941E88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0"/>
            <a:ext cx="12226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8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1218</Words>
  <Application>Microsoft Office PowerPoint</Application>
  <PresentationFormat>Custom</PresentationFormat>
  <Paragraphs>279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3" baseType="lpstr">
      <vt:lpstr>Agency FB</vt:lpstr>
      <vt:lpstr>Algerian</vt:lpstr>
      <vt:lpstr>Andalus</vt:lpstr>
      <vt:lpstr>Arial</vt:lpstr>
      <vt:lpstr>Bell MT</vt:lpstr>
      <vt:lpstr>Berlin Sans FB Demi</vt:lpstr>
      <vt:lpstr>Bernard MT Condensed</vt:lpstr>
      <vt:lpstr>Bodoni MT</vt:lpstr>
      <vt:lpstr>Bodoni MT Condensed</vt:lpstr>
      <vt:lpstr>Bookman Old Style</vt:lpstr>
      <vt:lpstr>Brush Script MT</vt:lpstr>
      <vt:lpstr>Calibri</vt:lpstr>
      <vt:lpstr>Castellar</vt:lpstr>
      <vt:lpstr>Curlz MT</vt:lpstr>
      <vt:lpstr>Engravers MT</vt:lpstr>
      <vt:lpstr>Eras Bold ITC</vt:lpstr>
      <vt:lpstr>Forte</vt:lpstr>
      <vt:lpstr>Impact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lapan</dc:creator>
  <dc:description>generated using python-pptx</dc:description>
  <cp:lastModifiedBy>Eng/ Lina mohamed 👩🏻‍💻 El_shentenawy</cp:lastModifiedBy>
  <cp:revision>3</cp:revision>
  <dcterms:created xsi:type="dcterms:W3CDTF">2013-01-27T09:14:00Z</dcterms:created>
  <dcterms:modified xsi:type="dcterms:W3CDTF">2026-03-17T23:08:31Z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DF24D783ED8A49DE841CE2BA1E65BF3D_12</vt:lpwstr>
  </property>
  <property fmtid="{D5CDD505-2E9C-101B-9397-08002B2CF9AE}" pid="3" name="KSOProductBuildVer">
    <vt:lpwstr>1033-12.1.0.25242</vt:lpwstr>
  </property>
</Properties>
</file>